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3393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6532" y="179746"/>
            <a:ext cx="4579374" cy="23228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41" b="1">
                <a:solidFill>
                  <a:srgbClr val="1F2937"/>
                </a:solidFill>
                <a:latin typeface="Helvetica, Arial, sans-serif"/>
              </a:rPr>
              <a:t>The building blocks of a CASCADE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532" y="424201"/>
            <a:ext cx="8740631" cy="1393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45">
                <a:solidFill>
                  <a:srgbClr val="475569"/>
                </a:solidFill>
                <a:latin typeface="Helvetica, Arial, sans-serif"/>
              </a:rPr>
              <a:t>A model is a directed graph: nodes joined by edges. You describe each element with attributes and rules to guide the engine.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6532" y="608370"/>
            <a:ext cx="9180871" cy="0"/>
          </a:xfrm>
          <a:prstGeom prst="line">
            <a:avLst/>
          </a:prstGeom>
          <a:ln w="14287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6532" y="707922"/>
            <a:ext cx="4590435" cy="18804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6083" y="818535"/>
            <a:ext cx="176980" cy="1769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9358" y="859463"/>
            <a:ext cx="150433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29" b="1">
                <a:solidFill>
                  <a:srgbClr val="FFFFFF"/>
                </a:solidFill>
                <a:latin typeface="Helvetica, Arial, sans-serif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70" y="837616"/>
            <a:ext cx="572421" cy="1780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35" b="1">
                <a:solidFill>
                  <a:srgbClr val="1F2937"/>
                </a:solidFill>
                <a:latin typeface="Helvetica, Arial, sans-serif"/>
              </a:rPr>
              <a:t>Nodes</a:t>
            </a:r>
          </a:p>
        </p:txBody>
      </p:sp>
      <p:sp>
        <p:nvSpPr>
          <p:cNvPr id="10" name="Freeform 9"/>
          <p:cNvSpPr/>
          <p:nvPr/>
        </p:nvSpPr>
        <p:spPr>
          <a:xfrm>
            <a:off x="492227" y="1111659"/>
            <a:ext cx="254410" cy="254410"/>
          </a:xfrm>
          <a:custGeom>
            <a:avLst/>
            <a:gdLst/>
            <a:ahLst/>
            <a:cxnLst/>
            <a:rect l="l" t="t" r="r" b="b"/>
            <a:pathLst>
              <a:path w="254410" h="254410">
                <a:moveTo>
                  <a:pt x="127205" y="0"/>
                </a:moveTo>
                <a:lnTo>
                  <a:pt x="254410" y="127205"/>
                </a:lnTo>
                <a:lnTo>
                  <a:pt x="127205" y="254410"/>
                </a:lnTo>
                <a:lnTo>
                  <a:pt x="0" y="127205"/>
                </a:lnTo>
                <a:close/>
              </a:path>
            </a:pathLst>
          </a:custGeom>
          <a:solidFill>
            <a:srgbClr val="22C55E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80041" y="1195105"/>
            <a:ext cx="78781" cy="87518"/>
          </a:xfrm>
          <a:custGeom>
            <a:avLst/>
            <a:gdLst/>
            <a:ahLst/>
            <a:cxnLst/>
            <a:rect l="l" t="t" r="r" b="b"/>
            <a:pathLst>
              <a:path w="78781" h="87518">
                <a:moveTo>
                  <a:pt x="4363" y="52516"/>
                </a:moveTo>
                <a:lnTo>
                  <a:pt x="2021" y="51846"/>
                </a:lnTo>
                <a:lnTo>
                  <a:pt x="399" y="50027"/>
                </a:lnTo>
                <a:lnTo>
                  <a:pt x="0" y="47624"/>
                </a:lnTo>
                <a:lnTo>
                  <a:pt x="948" y="45379"/>
                </a:lnTo>
                <a:lnTo>
                  <a:pt x="44295" y="719"/>
                </a:lnTo>
                <a:lnTo>
                  <a:pt x="45551" y="0"/>
                </a:lnTo>
                <a:lnTo>
                  <a:pt x="46982" y="222"/>
                </a:lnTo>
                <a:lnTo>
                  <a:pt x="47961" y="1289"/>
                </a:lnTo>
                <a:lnTo>
                  <a:pt x="48060" y="2733"/>
                </a:lnTo>
                <a:moveTo>
                  <a:pt x="48060" y="2733"/>
                </a:moveTo>
                <a:lnTo>
                  <a:pt x="39653" y="29091"/>
                </a:lnTo>
                <a:lnTo>
                  <a:pt x="39411" y="31171"/>
                </a:lnTo>
                <a:lnTo>
                  <a:pt x="40162" y="33126"/>
                </a:lnTo>
                <a:lnTo>
                  <a:pt x="41734" y="34508"/>
                </a:lnTo>
                <a:lnTo>
                  <a:pt x="43769" y="35002"/>
                </a:lnTo>
                <a:moveTo>
                  <a:pt x="43769" y="35002"/>
                </a:moveTo>
                <a:lnTo>
                  <a:pt x="74418" y="35002"/>
                </a:lnTo>
                <a:lnTo>
                  <a:pt x="76761" y="35672"/>
                </a:lnTo>
                <a:lnTo>
                  <a:pt x="78383" y="37491"/>
                </a:lnTo>
                <a:lnTo>
                  <a:pt x="78781" y="39894"/>
                </a:lnTo>
                <a:lnTo>
                  <a:pt x="77833" y="42139"/>
                </a:lnTo>
                <a:lnTo>
                  <a:pt x="34487" y="86799"/>
                </a:lnTo>
                <a:lnTo>
                  <a:pt x="33230" y="87518"/>
                </a:lnTo>
                <a:lnTo>
                  <a:pt x="31800" y="87296"/>
                </a:lnTo>
                <a:lnTo>
                  <a:pt x="30821" y="86229"/>
                </a:lnTo>
                <a:lnTo>
                  <a:pt x="30721" y="84785"/>
                </a:lnTo>
                <a:lnTo>
                  <a:pt x="39128" y="58427"/>
                </a:lnTo>
                <a:lnTo>
                  <a:pt x="39371" y="56347"/>
                </a:lnTo>
                <a:lnTo>
                  <a:pt x="38620" y="54392"/>
                </a:lnTo>
                <a:lnTo>
                  <a:pt x="37047" y="53010"/>
                </a:lnTo>
                <a:lnTo>
                  <a:pt x="35012" y="52516"/>
                </a:lnTo>
                <a:lnTo>
                  <a:pt x="4363" y="52516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719" y="1121062"/>
            <a:ext cx="517668" cy="1393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45" b="1">
                <a:solidFill>
                  <a:srgbClr val="1F2937"/>
                </a:solidFill>
                <a:latin typeface="Helvetica, Arial, sans-serif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719" y="1256010"/>
            <a:ext cx="1540837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>
                <a:solidFill>
                  <a:srgbClr val="475569"/>
                </a:solidFill>
                <a:latin typeface="Helvetica, Arial, sans-serif"/>
              </a:rPr>
              <a:t>where a resource originates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719" y="1365793"/>
            <a:ext cx="1179133" cy="10065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4">
                <a:solidFill>
                  <a:srgbClr val="94A3B8"/>
                </a:solidFill>
                <a:latin typeface="Helvetica, Arial, sans-serif"/>
              </a:rPr>
              <a:t>power plant, reservoir</a:t>
            </a:r>
          </a:p>
        </p:txBody>
      </p:sp>
      <p:sp>
        <p:nvSpPr>
          <p:cNvPr id="15" name="Freeform 14"/>
          <p:cNvSpPr/>
          <p:nvPr/>
        </p:nvSpPr>
        <p:spPr>
          <a:xfrm>
            <a:off x="1874888" y="1111659"/>
            <a:ext cx="254410" cy="254410"/>
          </a:xfrm>
          <a:custGeom>
            <a:avLst/>
            <a:gdLst/>
            <a:ahLst/>
            <a:cxnLst/>
            <a:rect l="l" t="t" r="r" b="b"/>
            <a:pathLst>
              <a:path w="254410" h="254410">
                <a:moveTo>
                  <a:pt x="50882" y="0"/>
                </a:moveTo>
                <a:lnTo>
                  <a:pt x="203528" y="0"/>
                </a:lnTo>
                <a:lnTo>
                  <a:pt x="254410" y="50882"/>
                </a:lnTo>
                <a:lnTo>
                  <a:pt x="254410" y="203528"/>
                </a:lnTo>
                <a:lnTo>
                  <a:pt x="203528" y="254410"/>
                </a:lnTo>
                <a:lnTo>
                  <a:pt x="50882" y="254410"/>
                </a:lnTo>
                <a:lnTo>
                  <a:pt x="0" y="203528"/>
                </a:lnTo>
                <a:lnTo>
                  <a:pt x="0" y="50882"/>
                </a:lnTo>
                <a:close/>
              </a:path>
            </a:pathLst>
          </a:custGeom>
          <a:solidFill>
            <a:srgbClr val="22C55E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971444" y="1199458"/>
            <a:ext cx="61298" cy="83190"/>
          </a:xfrm>
          <a:custGeom>
            <a:avLst/>
            <a:gdLst/>
            <a:ahLst/>
            <a:cxnLst/>
            <a:rect l="l" t="t" r="r" b="b"/>
            <a:pathLst>
              <a:path w="61298" h="83190">
                <a:moveTo>
                  <a:pt x="30649" y="83190"/>
                </a:moveTo>
                <a:lnTo>
                  <a:pt x="35011" y="82878"/>
                </a:lnTo>
                <a:lnTo>
                  <a:pt x="39284" y="81949"/>
                </a:lnTo>
                <a:lnTo>
                  <a:pt x="43381" y="80421"/>
                </a:lnTo>
                <a:lnTo>
                  <a:pt x="47219" y="78325"/>
                </a:lnTo>
                <a:lnTo>
                  <a:pt x="50720" y="75704"/>
                </a:lnTo>
                <a:lnTo>
                  <a:pt x="53812" y="72612"/>
                </a:lnTo>
                <a:lnTo>
                  <a:pt x="56433" y="69111"/>
                </a:lnTo>
                <a:lnTo>
                  <a:pt x="58528" y="65273"/>
                </a:lnTo>
                <a:lnTo>
                  <a:pt x="60057" y="61176"/>
                </a:lnTo>
                <a:lnTo>
                  <a:pt x="60986" y="56903"/>
                </a:lnTo>
                <a:lnTo>
                  <a:pt x="61298" y="52541"/>
                </a:lnTo>
                <a:lnTo>
                  <a:pt x="48163" y="28460"/>
                </a:lnTo>
                <a:lnTo>
                  <a:pt x="30649" y="0"/>
                </a:lnTo>
                <a:lnTo>
                  <a:pt x="13135" y="28460"/>
                </a:lnTo>
                <a:lnTo>
                  <a:pt x="0" y="52541"/>
                </a:lnTo>
                <a:lnTo>
                  <a:pt x="312" y="56903"/>
                </a:lnTo>
                <a:lnTo>
                  <a:pt x="1242" y="61176"/>
                </a:lnTo>
                <a:lnTo>
                  <a:pt x="2770" y="65273"/>
                </a:lnTo>
                <a:lnTo>
                  <a:pt x="4865" y="69111"/>
                </a:lnTo>
                <a:lnTo>
                  <a:pt x="7486" y="72612"/>
                </a:lnTo>
                <a:lnTo>
                  <a:pt x="10578" y="75704"/>
                </a:lnTo>
                <a:lnTo>
                  <a:pt x="14079" y="78325"/>
                </a:lnTo>
                <a:lnTo>
                  <a:pt x="17917" y="80421"/>
                </a:lnTo>
                <a:lnTo>
                  <a:pt x="22014" y="81949"/>
                </a:lnTo>
                <a:lnTo>
                  <a:pt x="26287" y="82878"/>
                </a:lnTo>
                <a:lnTo>
                  <a:pt x="30649" y="83190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34380" y="1121062"/>
            <a:ext cx="1075157" cy="1393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45" b="1">
                <a:solidFill>
                  <a:srgbClr val="1F2937"/>
                </a:solidFill>
                <a:latin typeface="Helvetica, Arial, sans-serif"/>
              </a:rP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4380" y="1256010"/>
            <a:ext cx="1649238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>
                <a:solidFill>
                  <a:srgbClr val="475569"/>
                </a:solidFill>
                <a:latin typeface="Helvetica, Arial, sans-serif"/>
              </a:rPr>
              <a:t>transform or carry a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4380" y="1365793"/>
            <a:ext cx="1179133" cy="10065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4">
                <a:solidFill>
                  <a:srgbClr val="94A3B8"/>
                </a:solidFill>
                <a:latin typeface="Helvetica, Arial, sans-serif"/>
              </a:rPr>
              <a:t>substation, pump, road</a:t>
            </a:r>
          </a:p>
        </p:txBody>
      </p:sp>
      <p:sp>
        <p:nvSpPr>
          <p:cNvPr id="20" name="Oval 19"/>
          <p:cNvSpPr/>
          <p:nvPr/>
        </p:nvSpPr>
        <p:spPr>
          <a:xfrm>
            <a:off x="497758" y="1780867"/>
            <a:ext cx="243348" cy="243348"/>
          </a:xfrm>
          <a:prstGeom prst="ellipse">
            <a:avLst/>
          </a:prstGeom>
          <a:solidFill>
            <a:srgbClr val="22C55E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719" y="1784740"/>
            <a:ext cx="587354" cy="1393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45" b="1">
                <a:solidFill>
                  <a:srgbClr val="1F2937"/>
                </a:solidFill>
                <a:latin typeface="Helvetica, Arial, sans-serif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719" y="1919687"/>
            <a:ext cx="1107235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>
                <a:solidFill>
                  <a:srgbClr val="475569"/>
                </a:solidFill>
                <a:latin typeface="Helvetica, Arial, sans-serif"/>
              </a:rPr>
              <a:t>a consumer /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719" y="2029470"/>
            <a:ext cx="1229462" cy="10065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4">
                <a:solidFill>
                  <a:srgbClr val="94A3B8"/>
                </a:solidFill>
                <a:latin typeface="Helvetica, Arial, sans-serif"/>
              </a:rPr>
              <a:t>hospital, city, factory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80419" y="1780867"/>
            <a:ext cx="243348" cy="243348"/>
          </a:xfrm>
          <a:prstGeom prst="roundRect">
            <a:avLst/>
          </a:prstGeom>
          <a:solidFill>
            <a:srgbClr val="22C55E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958309" y="1915677"/>
            <a:ext cx="61298" cy="26270"/>
          </a:xfrm>
          <a:custGeom>
            <a:avLst/>
            <a:gdLst/>
            <a:ahLst/>
            <a:cxnLst/>
            <a:rect l="l" t="t" r="r" b="b"/>
            <a:pathLst>
              <a:path w="61298" h="26270">
                <a:moveTo>
                  <a:pt x="61298" y="26270"/>
                </a:moveTo>
                <a:lnTo>
                  <a:pt x="61298" y="17513"/>
                </a:lnTo>
                <a:lnTo>
                  <a:pt x="60859" y="13616"/>
                </a:lnTo>
                <a:lnTo>
                  <a:pt x="59563" y="9915"/>
                </a:lnTo>
                <a:lnTo>
                  <a:pt x="57477" y="6594"/>
                </a:lnTo>
                <a:lnTo>
                  <a:pt x="54704" y="3821"/>
                </a:lnTo>
                <a:lnTo>
                  <a:pt x="51383" y="1734"/>
                </a:lnTo>
                <a:lnTo>
                  <a:pt x="47681" y="439"/>
                </a:lnTo>
                <a:lnTo>
                  <a:pt x="43784" y="0"/>
                </a:lnTo>
                <a:lnTo>
                  <a:pt x="17513" y="0"/>
                </a:lnTo>
                <a:lnTo>
                  <a:pt x="13616" y="439"/>
                </a:lnTo>
                <a:lnTo>
                  <a:pt x="9915" y="1734"/>
                </a:lnTo>
                <a:lnTo>
                  <a:pt x="6594" y="3821"/>
                </a:lnTo>
                <a:lnTo>
                  <a:pt x="3821" y="6594"/>
                </a:lnTo>
                <a:lnTo>
                  <a:pt x="1734" y="9915"/>
                </a:lnTo>
                <a:lnTo>
                  <a:pt x="439" y="13616"/>
                </a:lnTo>
                <a:lnTo>
                  <a:pt x="0" y="17513"/>
                </a:lnTo>
                <a:lnTo>
                  <a:pt x="0" y="2627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019607" y="1863696"/>
            <a:ext cx="12993" cy="33907"/>
          </a:xfrm>
          <a:custGeom>
            <a:avLst/>
            <a:gdLst/>
            <a:ahLst/>
            <a:cxnLst/>
            <a:rect l="l" t="t" r="r" b="b"/>
            <a:pathLst>
              <a:path w="12993" h="33907">
                <a:moveTo>
                  <a:pt x="0" y="0"/>
                </a:moveTo>
                <a:lnTo>
                  <a:pt x="3896" y="1526"/>
                </a:lnTo>
                <a:lnTo>
                  <a:pt x="7318" y="3933"/>
                </a:lnTo>
                <a:lnTo>
                  <a:pt x="10072" y="7083"/>
                </a:lnTo>
                <a:lnTo>
                  <a:pt x="12001" y="10796"/>
                </a:lnTo>
                <a:lnTo>
                  <a:pt x="12993" y="14861"/>
                </a:lnTo>
                <a:lnTo>
                  <a:pt x="12993" y="19045"/>
                </a:lnTo>
                <a:lnTo>
                  <a:pt x="12001" y="23110"/>
                </a:lnTo>
                <a:lnTo>
                  <a:pt x="10072" y="26823"/>
                </a:lnTo>
                <a:lnTo>
                  <a:pt x="7318" y="29973"/>
                </a:lnTo>
                <a:lnTo>
                  <a:pt x="3896" y="32380"/>
                </a:lnTo>
                <a:lnTo>
                  <a:pt x="0" y="33907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032742" y="1916246"/>
            <a:ext cx="13135" cy="25701"/>
          </a:xfrm>
          <a:custGeom>
            <a:avLst/>
            <a:gdLst/>
            <a:ahLst/>
            <a:cxnLst/>
            <a:rect l="l" t="t" r="r" b="b"/>
            <a:pathLst>
              <a:path w="13135" h="25701">
                <a:moveTo>
                  <a:pt x="13135" y="25701"/>
                </a:moveTo>
                <a:lnTo>
                  <a:pt x="13135" y="16944"/>
                </a:lnTo>
                <a:lnTo>
                  <a:pt x="12712" y="13130"/>
                </a:lnTo>
                <a:lnTo>
                  <a:pt x="11468" y="9500"/>
                </a:lnTo>
                <a:lnTo>
                  <a:pt x="9463" y="6227"/>
                </a:lnTo>
                <a:lnTo>
                  <a:pt x="6794" y="3470"/>
                </a:lnTo>
                <a:lnTo>
                  <a:pt x="3588" y="136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66835" y="1858527"/>
            <a:ext cx="44245" cy="44245"/>
          </a:xfrm>
          <a:prstGeom prst="ellipse">
            <a:avLst/>
          </a:pr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4380" y="1784740"/>
            <a:ext cx="726726" cy="1393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45" b="1">
                <a:solidFill>
                  <a:srgbClr val="1F2937"/>
                </a:solidFill>
                <a:latin typeface="Helvetica, Arial, sans-serif"/>
              </a:rPr>
              <a:t>Personnel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4380" y="1919687"/>
            <a:ext cx="944634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>
                <a:solidFill>
                  <a:srgbClr val="475569"/>
                </a:solidFill>
                <a:latin typeface="Helvetica, Arial, sans-serif"/>
              </a:rPr>
              <a:t>a person or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4380" y="2029470"/>
            <a:ext cx="1179133" cy="10065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4">
                <a:solidFill>
                  <a:srgbClr val="94A3B8"/>
                </a:solidFill>
                <a:latin typeface="Helvetica, Arial, sans-serif"/>
              </a:rPr>
              <a:t>operator, control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653" y="1044324"/>
            <a:ext cx="685800" cy="1200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Helvetica, Arial, sans-serif"/>
              </a:rPr>
              <a:t>Categories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653" y="1161989"/>
            <a:ext cx="1107235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>
                <a:solidFill>
                  <a:srgbClr val="475569"/>
                </a:solidFill>
                <a:latin typeface="Helvetica, Arial, sans-serif"/>
              </a:rPr>
              <a:t>(with visual icons)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653" y="1316293"/>
            <a:ext cx="232287" cy="232287"/>
          </a:xfrm>
          <a:prstGeom prst="roundRect">
            <a:avLst/>
          </a:prstGeom>
          <a:solidFill>
            <a:srgbClr val="F8FAFC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523040" y="1377162"/>
            <a:ext cx="99513" cy="110549"/>
          </a:xfrm>
          <a:custGeom>
            <a:avLst/>
            <a:gdLst/>
            <a:ahLst/>
            <a:cxnLst/>
            <a:rect l="l" t="t" r="r" b="b"/>
            <a:pathLst>
              <a:path w="99513" h="110549">
                <a:moveTo>
                  <a:pt x="5511" y="66336"/>
                </a:moveTo>
                <a:lnTo>
                  <a:pt x="2552" y="65490"/>
                </a:lnTo>
                <a:lnTo>
                  <a:pt x="503" y="63193"/>
                </a:lnTo>
                <a:lnTo>
                  <a:pt x="0" y="60156"/>
                </a:lnTo>
                <a:lnTo>
                  <a:pt x="1197" y="57321"/>
                </a:lnTo>
                <a:lnTo>
                  <a:pt x="55951" y="908"/>
                </a:lnTo>
                <a:lnTo>
                  <a:pt x="57538" y="0"/>
                </a:lnTo>
                <a:lnTo>
                  <a:pt x="59345" y="281"/>
                </a:lnTo>
                <a:lnTo>
                  <a:pt x="60582" y="1628"/>
                </a:lnTo>
                <a:lnTo>
                  <a:pt x="60707" y="3452"/>
                </a:lnTo>
                <a:moveTo>
                  <a:pt x="60707" y="3452"/>
                </a:moveTo>
                <a:lnTo>
                  <a:pt x="50088" y="36747"/>
                </a:lnTo>
                <a:lnTo>
                  <a:pt x="49782" y="39374"/>
                </a:lnTo>
                <a:lnTo>
                  <a:pt x="50730" y="41843"/>
                </a:lnTo>
                <a:lnTo>
                  <a:pt x="52717" y="43589"/>
                </a:lnTo>
                <a:lnTo>
                  <a:pt x="55287" y="44213"/>
                </a:lnTo>
                <a:moveTo>
                  <a:pt x="55287" y="44213"/>
                </a:moveTo>
                <a:lnTo>
                  <a:pt x="94001" y="44213"/>
                </a:lnTo>
                <a:lnTo>
                  <a:pt x="96961" y="45060"/>
                </a:lnTo>
                <a:lnTo>
                  <a:pt x="99009" y="47357"/>
                </a:lnTo>
                <a:lnTo>
                  <a:pt x="99513" y="50393"/>
                </a:lnTo>
                <a:lnTo>
                  <a:pt x="98315" y="53228"/>
                </a:lnTo>
                <a:lnTo>
                  <a:pt x="43562" y="109641"/>
                </a:lnTo>
                <a:lnTo>
                  <a:pt x="41975" y="110549"/>
                </a:lnTo>
                <a:lnTo>
                  <a:pt x="40168" y="110269"/>
                </a:lnTo>
                <a:lnTo>
                  <a:pt x="38931" y="108921"/>
                </a:lnTo>
                <a:lnTo>
                  <a:pt x="38806" y="107097"/>
                </a:lnTo>
                <a:lnTo>
                  <a:pt x="49424" y="73802"/>
                </a:lnTo>
                <a:lnTo>
                  <a:pt x="49731" y="71175"/>
                </a:lnTo>
                <a:lnTo>
                  <a:pt x="48782" y="68706"/>
                </a:lnTo>
                <a:lnTo>
                  <a:pt x="46796" y="66960"/>
                </a:lnTo>
                <a:lnTo>
                  <a:pt x="44226" y="66336"/>
                </a:lnTo>
                <a:lnTo>
                  <a:pt x="5511" y="66336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6369" y="1395105"/>
            <a:ext cx="547533" cy="116143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70">
                <a:solidFill>
                  <a:srgbClr val="475569"/>
                </a:solidFill>
                <a:latin typeface="Helvetica, Arial, sans-serif"/>
              </a:rPr>
              <a:t>electric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56653" y="1581764"/>
            <a:ext cx="232287" cy="232287"/>
          </a:xfrm>
          <a:prstGeom prst="roundRect">
            <a:avLst/>
          </a:prstGeom>
          <a:solidFill>
            <a:srgbClr val="F8FAFC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534082" y="1648132"/>
            <a:ext cx="77429" cy="105082"/>
          </a:xfrm>
          <a:custGeom>
            <a:avLst/>
            <a:gdLst/>
            <a:ahLst/>
            <a:cxnLst/>
            <a:rect l="l" t="t" r="r" b="b"/>
            <a:pathLst>
              <a:path w="77429" h="105082">
                <a:moveTo>
                  <a:pt x="38714" y="105082"/>
                </a:moveTo>
                <a:lnTo>
                  <a:pt x="44224" y="104688"/>
                </a:lnTo>
                <a:lnTo>
                  <a:pt x="49621" y="103514"/>
                </a:lnTo>
                <a:lnTo>
                  <a:pt x="54797" y="101583"/>
                </a:lnTo>
                <a:lnTo>
                  <a:pt x="59645" y="98936"/>
                </a:lnTo>
                <a:lnTo>
                  <a:pt x="64067" y="95626"/>
                </a:lnTo>
                <a:lnTo>
                  <a:pt x="67973" y="91720"/>
                </a:lnTo>
                <a:lnTo>
                  <a:pt x="71283" y="87298"/>
                </a:lnTo>
                <a:lnTo>
                  <a:pt x="73930" y="82450"/>
                </a:lnTo>
                <a:lnTo>
                  <a:pt x="75861" y="77275"/>
                </a:lnTo>
                <a:lnTo>
                  <a:pt x="77035" y="71877"/>
                </a:lnTo>
                <a:lnTo>
                  <a:pt x="77429" y="66368"/>
                </a:lnTo>
                <a:lnTo>
                  <a:pt x="60837" y="35949"/>
                </a:lnTo>
                <a:lnTo>
                  <a:pt x="38714" y="0"/>
                </a:lnTo>
                <a:lnTo>
                  <a:pt x="16592" y="35949"/>
                </a:lnTo>
                <a:lnTo>
                  <a:pt x="0" y="66368"/>
                </a:lnTo>
                <a:lnTo>
                  <a:pt x="394" y="71877"/>
                </a:lnTo>
                <a:lnTo>
                  <a:pt x="1568" y="77275"/>
                </a:lnTo>
                <a:lnTo>
                  <a:pt x="3498" y="82450"/>
                </a:lnTo>
                <a:lnTo>
                  <a:pt x="6146" y="87298"/>
                </a:lnTo>
                <a:lnTo>
                  <a:pt x="9456" y="91720"/>
                </a:lnTo>
                <a:lnTo>
                  <a:pt x="13362" y="95626"/>
                </a:lnTo>
                <a:lnTo>
                  <a:pt x="17784" y="98936"/>
                </a:lnTo>
                <a:lnTo>
                  <a:pt x="22632" y="101583"/>
                </a:lnTo>
                <a:lnTo>
                  <a:pt x="27807" y="103514"/>
                </a:lnTo>
                <a:lnTo>
                  <a:pt x="33205" y="104688"/>
                </a:lnTo>
                <a:lnTo>
                  <a:pt x="38714" y="105082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66369" y="1660576"/>
            <a:ext cx="373318" cy="116143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70">
                <a:solidFill>
                  <a:srgbClr val="475569"/>
                </a:solidFill>
                <a:latin typeface="Helvetica, Arial, sans-serif"/>
              </a:rPr>
              <a:t>water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6653" y="1847235"/>
            <a:ext cx="232287" cy="232287"/>
          </a:xfrm>
          <a:prstGeom prst="roundRect">
            <a:avLst/>
          </a:prstGeom>
          <a:solidFill>
            <a:srgbClr val="F8FAFC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3517490" y="1919133"/>
            <a:ext cx="66368" cy="77429"/>
          </a:xfrm>
          <a:custGeom>
            <a:avLst/>
            <a:gdLst/>
            <a:ahLst/>
            <a:cxnLst/>
            <a:rect l="l" t="t" r="r" b="b"/>
            <a:pathLst>
              <a:path w="66368" h="77429">
                <a:moveTo>
                  <a:pt x="66368" y="77429"/>
                </a:moveTo>
                <a:lnTo>
                  <a:pt x="66368" y="11062"/>
                </a:lnTo>
                <a:lnTo>
                  <a:pt x="65526" y="6829"/>
                </a:lnTo>
                <a:lnTo>
                  <a:pt x="63128" y="3240"/>
                </a:lnTo>
                <a:lnTo>
                  <a:pt x="59539" y="842"/>
                </a:lnTo>
                <a:lnTo>
                  <a:pt x="55306" y="0"/>
                </a:lnTo>
                <a:lnTo>
                  <a:pt x="11061" y="0"/>
                </a:lnTo>
                <a:lnTo>
                  <a:pt x="6828" y="842"/>
                </a:lnTo>
                <a:lnTo>
                  <a:pt x="3240" y="3240"/>
                </a:lnTo>
                <a:lnTo>
                  <a:pt x="842" y="6829"/>
                </a:lnTo>
                <a:lnTo>
                  <a:pt x="0" y="11062"/>
                </a:lnTo>
                <a:lnTo>
                  <a:pt x="0" y="71899"/>
                </a:lnTo>
                <a:lnTo>
                  <a:pt x="421" y="74015"/>
                </a:lnTo>
                <a:lnTo>
                  <a:pt x="1620" y="75810"/>
                </a:lnTo>
                <a:lnTo>
                  <a:pt x="3414" y="77008"/>
                </a:lnTo>
                <a:lnTo>
                  <a:pt x="5530" y="77429"/>
                </a:lnTo>
                <a:lnTo>
                  <a:pt x="16592" y="77429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3556204" y="1996562"/>
            <a:ext cx="33184" cy="0"/>
          </a:xfrm>
          <a:custGeom>
            <a:avLst/>
            <a:gdLst/>
            <a:ahLst/>
            <a:cxnLst/>
            <a:rect l="l" t="t" r="r" b="b"/>
            <a:pathLst>
              <a:path w="33184" h="0">
                <a:moveTo>
                  <a:pt x="33184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583858" y="1941256"/>
            <a:ext cx="44245" cy="55306"/>
          </a:xfrm>
          <a:custGeom>
            <a:avLst/>
            <a:gdLst/>
            <a:ahLst/>
            <a:cxnLst/>
            <a:rect l="l" t="t" r="r" b="b"/>
            <a:pathLst>
              <a:path w="44245" h="55306">
                <a:moveTo>
                  <a:pt x="27653" y="55306"/>
                </a:moveTo>
                <a:lnTo>
                  <a:pt x="38714" y="55306"/>
                </a:lnTo>
                <a:lnTo>
                  <a:pt x="40831" y="54885"/>
                </a:lnTo>
                <a:lnTo>
                  <a:pt x="42625" y="53687"/>
                </a:lnTo>
                <a:lnTo>
                  <a:pt x="43824" y="51892"/>
                </a:lnTo>
                <a:lnTo>
                  <a:pt x="44245" y="49776"/>
                </a:lnTo>
                <a:lnTo>
                  <a:pt x="44245" y="29589"/>
                </a:lnTo>
                <a:lnTo>
                  <a:pt x="44165" y="28661"/>
                </a:lnTo>
                <a:lnTo>
                  <a:pt x="43930" y="27760"/>
                </a:lnTo>
                <a:lnTo>
                  <a:pt x="43548" y="26911"/>
                </a:lnTo>
                <a:lnTo>
                  <a:pt x="43028" y="26138"/>
                </a:lnTo>
                <a:moveTo>
                  <a:pt x="43028" y="26138"/>
                </a:moveTo>
                <a:lnTo>
                  <a:pt x="23781" y="2079"/>
                </a:lnTo>
                <a:lnTo>
                  <a:pt x="22907" y="1206"/>
                </a:lnTo>
                <a:lnTo>
                  <a:pt x="21861" y="549"/>
                </a:lnTo>
                <a:lnTo>
                  <a:pt x="20695" y="140"/>
                </a:lnTo>
                <a:lnTo>
                  <a:pt x="19467" y="0"/>
                </a:lnTo>
                <a:moveTo>
                  <a:pt x="19467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89388" y="1985501"/>
            <a:ext cx="22122" cy="22122"/>
          </a:xfrm>
          <a:prstGeom prst="ellipse">
            <a:avLst/>
          </a:pr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34082" y="1985501"/>
            <a:ext cx="22122" cy="22122"/>
          </a:xfrm>
          <a:prstGeom prst="ellipse">
            <a:avLst/>
          </a:pr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6369" y="1926047"/>
            <a:ext cx="605605" cy="116143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70">
                <a:solidFill>
                  <a:srgbClr val="475569"/>
                </a:solidFill>
                <a:latin typeface="Helvetica, Arial, sans-serif"/>
              </a:rPr>
              <a:t>transport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6653" y="2112706"/>
            <a:ext cx="232287" cy="232287"/>
          </a:xfrm>
          <a:prstGeom prst="roundRect">
            <a:avLst/>
          </a:prstGeom>
          <a:solidFill>
            <a:srgbClr val="F8FAFC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3517490" y="2245441"/>
            <a:ext cx="77429" cy="33184"/>
          </a:xfrm>
          <a:custGeom>
            <a:avLst/>
            <a:gdLst/>
            <a:ahLst/>
            <a:cxnLst/>
            <a:rect l="l" t="t" r="r" b="b"/>
            <a:pathLst>
              <a:path w="77429" h="33184">
                <a:moveTo>
                  <a:pt x="77429" y="33184"/>
                </a:moveTo>
                <a:lnTo>
                  <a:pt x="77429" y="22123"/>
                </a:lnTo>
                <a:lnTo>
                  <a:pt x="76874" y="17200"/>
                </a:lnTo>
                <a:lnTo>
                  <a:pt x="75238" y="12524"/>
                </a:lnTo>
                <a:lnTo>
                  <a:pt x="72602" y="8330"/>
                </a:lnTo>
                <a:lnTo>
                  <a:pt x="69099" y="4827"/>
                </a:lnTo>
                <a:lnTo>
                  <a:pt x="64905" y="2191"/>
                </a:lnTo>
                <a:lnTo>
                  <a:pt x="60229" y="555"/>
                </a:lnTo>
                <a:lnTo>
                  <a:pt x="55306" y="0"/>
                </a:lnTo>
                <a:lnTo>
                  <a:pt x="22122" y="0"/>
                </a:lnTo>
                <a:lnTo>
                  <a:pt x="17200" y="555"/>
                </a:lnTo>
                <a:lnTo>
                  <a:pt x="12524" y="2191"/>
                </a:lnTo>
                <a:lnTo>
                  <a:pt x="8329" y="4827"/>
                </a:lnTo>
                <a:lnTo>
                  <a:pt x="4826" y="8330"/>
                </a:lnTo>
                <a:lnTo>
                  <a:pt x="2191" y="12524"/>
                </a:lnTo>
                <a:lnTo>
                  <a:pt x="554" y="17200"/>
                </a:lnTo>
                <a:lnTo>
                  <a:pt x="0" y="22123"/>
                </a:lnTo>
                <a:lnTo>
                  <a:pt x="0" y="33184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594919" y="2179782"/>
            <a:ext cx="16412" cy="42829"/>
          </a:xfrm>
          <a:custGeom>
            <a:avLst/>
            <a:gdLst/>
            <a:ahLst/>
            <a:cxnLst/>
            <a:rect l="l" t="t" r="r" b="b"/>
            <a:pathLst>
              <a:path w="16412" h="42829">
                <a:moveTo>
                  <a:pt x="0" y="0"/>
                </a:moveTo>
                <a:lnTo>
                  <a:pt x="4921" y="1928"/>
                </a:lnTo>
                <a:lnTo>
                  <a:pt x="9244" y="4968"/>
                </a:lnTo>
                <a:lnTo>
                  <a:pt x="12723" y="8947"/>
                </a:lnTo>
                <a:lnTo>
                  <a:pt x="15159" y="13637"/>
                </a:lnTo>
                <a:lnTo>
                  <a:pt x="16412" y="18772"/>
                </a:lnTo>
                <a:lnTo>
                  <a:pt x="16412" y="24057"/>
                </a:lnTo>
                <a:lnTo>
                  <a:pt x="15159" y="29191"/>
                </a:lnTo>
                <a:lnTo>
                  <a:pt x="12723" y="33882"/>
                </a:lnTo>
                <a:lnTo>
                  <a:pt x="9244" y="37861"/>
                </a:lnTo>
                <a:lnTo>
                  <a:pt x="4921" y="40901"/>
                </a:lnTo>
                <a:lnTo>
                  <a:pt x="0" y="42829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611511" y="2246160"/>
            <a:ext cx="16592" cy="32465"/>
          </a:xfrm>
          <a:custGeom>
            <a:avLst/>
            <a:gdLst/>
            <a:ahLst/>
            <a:cxnLst/>
            <a:rect l="l" t="t" r="r" b="b"/>
            <a:pathLst>
              <a:path w="16592" h="32465">
                <a:moveTo>
                  <a:pt x="16592" y="32465"/>
                </a:moveTo>
                <a:lnTo>
                  <a:pt x="16592" y="21404"/>
                </a:lnTo>
                <a:lnTo>
                  <a:pt x="16057" y="16586"/>
                </a:lnTo>
                <a:lnTo>
                  <a:pt x="14486" y="12000"/>
                </a:lnTo>
                <a:lnTo>
                  <a:pt x="11954" y="7867"/>
                </a:lnTo>
                <a:lnTo>
                  <a:pt x="8582" y="4384"/>
                </a:lnTo>
                <a:lnTo>
                  <a:pt x="4532" y="171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34082" y="2179074"/>
            <a:ext cx="44245" cy="44245"/>
          </a:xfrm>
          <a:prstGeom prst="ellipse">
            <a:avLst/>
          </a:pr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66369" y="2191518"/>
            <a:ext cx="489462" cy="116143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70">
                <a:solidFill>
                  <a:srgbClr val="475569"/>
                </a:solidFill>
                <a:latin typeface="Helvetica, Arial, sans-serif"/>
              </a:rPr>
              <a:t>manager</a:t>
            </a:r>
          </a:p>
        </p:txBody>
      </p:sp>
      <p:sp>
        <p:nvSpPr>
          <p:cNvPr id="53" name="Oval 52"/>
          <p:cNvSpPr/>
          <p:nvPr/>
        </p:nvSpPr>
        <p:spPr>
          <a:xfrm>
            <a:off x="3555098" y="2393663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555098" y="2443439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555098" y="2493214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977580" y="707922"/>
            <a:ext cx="4479822" cy="87384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077132" y="818535"/>
            <a:ext cx="176980" cy="1769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90406" y="859463"/>
            <a:ext cx="150433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29" b="1">
                <a:solidFill>
                  <a:srgbClr val="FFFFFF"/>
                </a:solidFill>
                <a:latin typeface="Helvetica, Arial, sans-serif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9419" y="837616"/>
            <a:ext cx="2798506" cy="1780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35" b="1">
                <a:solidFill>
                  <a:srgbClr val="1F2937"/>
                </a:solidFill>
                <a:latin typeface="Helvetica, Arial, sans-serif"/>
              </a:rPr>
              <a:t>Edges  (directed dependencies)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98806" y="1183558"/>
            <a:ext cx="608371" cy="0"/>
          </a:xfrm>
          <a:prstGeom prst="line">
            <a:avLst/>
          </a:prstGeom>
          <a:ln w="32385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17790" y="1086219"/>
            <a:ext cx="769865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29" b="1">
                <a:solidFill>
                  <a:srgbClr val="1F2937"/>
                </a:solidFill>
                <a:latin typeface="Helvetica, Arial, sans-serif"/>
              </a:rPr>
              <a:t>intra-layer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17790" y="1210935"/>
            <a:ext cx="977818" cy="10065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4">
                <a:solidFill>
                  <a:srgbClr val="94A3B8"/>
                </a:solidFill>
                <a:latin typeface="Helvetica, Arial, sans-serif"/>
              </a:rPr>
              <a:t>within one network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411064" y="1183558"/>
            <a:ext cx="619432" cy="0"/>
          </a:xfrm>
          <a:prstGeom prst="line">
            <a:avLst/>
          </a:prstGeom>
          <a:ln w="20955">
            <a:solidFill>
              <a:srgbClr val="22C55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141109" y="1086219"/>
            <a:ext cx="769865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29" b="1">
                <a:solidFill>
                  <a:srgbClr val="1F2937"/>
                </a:solidFill>
                <a:latin typeface="Helvetica, Arial, sans-serif"/>
              </a:rPr>
              <a:t>inter-layer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41109" y="1210935"/>
            <a:ext cx="826831" cy="100657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4">
                <a:solidFill>
                  <a:srgbClr val="94A3B8"/>
                </a:solidFill>
                <a:latin typeface="Helvetica, Arial, sans-serif"/>
              </a:rPr>
              <a:t>across networks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98806" y="1391925"/>
            <a:ext cx="4627214" cy="1122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41">
                <a:solidFill>
                  <a:srgbClr val="475569"/>
                </a:solidFill>
                <a:latin typeface="Helvetica, Arial, sans-serif"/>
              </a:rPr>
              <a:t>tail → head means "the tail provides to the head" (the head depends on the tail).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77580" y="1681316"/>
            <a:ext cx="4479822" cy="9070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077132" y="1791929"/>
            <a:ext cx="176980" cy="1769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90406" y="1832856"/>
            <a:ext cx="150433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29" b="1">
                <a:solidFill>
                  <a:srgbClr val="FFFFFF"/>
                </a:solidFill>
                <a:latin typeface="Helvetica, Arial, sans-serif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9419" y="1811009"/>
            <a:ext cx="750508" cy="1780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35" b="1">
                <a:solidFill>
                  <a:srgbClr val="1F2937"/>
                </a:solidFill>
                <a:latin typeface="Helvetica, Arial, sans-serif"/>
              </a:rPr>
              <a:t>Hazards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165622" y="2013154"/>
            <a:ext cx="1338416" cy="254409"/>
          </a:xfrm>
          <a:prstGeom prst="roundRect">
            <a:avLst/>
          </a:prstGeom>
          <a:solidFill>
            <a:srgbClr val="F1F5F9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281766" y="2107175"/>
            <a:ext cx="99551" cy="66368"/>
          </a:xfrm>
          <a:custGeom>
            <a:avLst/>
            <a:gdLst/>
            <a:ahLst/>
            <a:cxnLst/>
            <a:rect l="l" t="t" r="r" b="b"/>
            <a:pathLst>
              <a:path w="99551" h="66368">
                <a:moveTo>
                  <a:pt x="0" y="33184"/>
                </a:moveTo>
                <a:lnTo>
                  <a:pt x="16592" y="33184"/>
                </a:lnTo>
                <a:lnTo>
                  <a:pt x="27653" y="0"/>
                </a:lnTo>
                <a:lnTo>
                  <a:pt x="49775" y="66368"/>
                </a:lnTo>
                <a:lnTo>
                  <a:pt x="66367" y="16592"/>
                </a:lnTo>
                <a:lnTo>
                  <a:pt x="77429" y="33184"/>
                </a:lnTo>
                <a:lnTo>
                  <a:pt x="99551" y="33184"/>
                </a:lnTo>
              </a:path>
            </a:pathLst>
          </a:custGeom>
          <a:noFill/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75338" y="2098327"/>
            <a:ext cx="707922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29" b="1">
                <a:solidFill>
                  <a:srgbClr val="1F2937"/>
                </a:solidFill>
                <a:latin typeface="Helvetica, Arial, sans-serif"/>
              </a:rPr>
              <a:t>Earthquake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59345" y="2013154"/>
            <a:ext cx="1338416" cy="254409"/>
          </a:xfrm>
          <a:prstGeom prst="roundRect">
            <a:avLst/>
          </a:prstGeom>
          <a:solidFill>
            <a:srgbClr val="F1F5F9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6669958" y="2118237"/>
            <a:ext cx="110612" cy="11061"/>
          </a:xfrm>
          <a:custGeom>
            <a:avLst/>
            <a:gdLst/>
            <a:ahLst/>
            <a:cxnLst/>
            <a:rect l="l" t="t" r="r" b="b"/>
            <a:pathLst>
              <a:path w="110612" h="11061">
                <a:moveTo>
                  <a:pt x="0" y="0"/>
                </a:moveTo>
                <a:lnTo>
                  <a:pt x="22122" y="11061"/>
                </a:lnTo>
                <a:lnTo>
                  <a:pt x="44245" y="0"/>
                </a:lnTo>
                <a:lnTo>
                  <a:pt x="66367" y="11061"/>
                </a:lnTo>
                <a:lnTo>
                  <a:pt x="88490" y="0"/>
                </a:lnTo>
                <a:lnTo>
                  <a:pt x="110612" y="11061"/>
                </a:lnTo>
              </a:path>
            </a:pathLst>
          </a:custGeom>
          <a:noFill/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6669958" y="2151420"/>
            <a:ext cx="110612" cy="11062"/>
          </a:xfrm>
          <a:custGeom>
            <a:avLst/>
            <a:gdLst/>
            <a:ahLst/>
            <a:cxnLst/>
            <a:rect l="l" t="t" r="r" b="b"/>
            <a:pathLst>
              <a:path w="110612" h="11062">
                <a:moveTo>
                  <a:pt x="0" y="0"/>
                </a:moveTo>
                <a:lnTo>
                  <a:pt x="22122" y="11062"/>
                </a:lnTo>
                <a:lnTo>
                  <a:pt x="44245" y="0"/>
                </a:lnTo>
                <a:lnTo>
                  <a:pt x="66367" y="11062"/>
                </a:lnTo>
                <a:lnTo>
                  <a:pt x="88490" y="0"/>
                </a:lnTo>
                <a:lnTo>
                  <a:pt x="110612" y="11062"/>
                </a:lnTo>
              </a:path>
            </a:pathLst>
          </a:custGeom>
          <a:noFill/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69061" y="2098327"/>
            <a:ext cx="398206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29" b="1">
                <a:solidFill>
                  <a:srgbClr val="1F2937"/>
                </a:solidFill>
                <a:latin typeface="Helvetica, Arial, sans-serif"/>
              </a:rPr>
              <a:t>Flood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53067" y="2013154"/>
            <a:ext cx="1338416" cy="254409"/>
          </a:xfrm>
          <a:prstGeom prst="roundRect">
            <a:avLst/>
          </a:prstGeom>
          <a:solidFill>
            <a:srgbClr val="F1F5F9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074741" y="2085053"/>
            <a:ext cx="88491" cy="110613"/>
          </a:xfrm>
          <a:custGeom>
            <a:avLst/>
            <a:gdLst/>
            <a:ahLst/>
            <a:cxnLst/>
            <a:rect l="l" t="t" r="r" b="b"/>
            <a:pathLst>
              <a:path w="88491" h="110613">
                <a:moveTo>
                  <a:pt x="44246" y="0"/>
                </a:moveTo>
                <a:lnTo>
                  <a:pt x="88491" y="16592"/>
                </a:lnTo>
                <a:lnTo>
                  <a:pt x="88491" y="49776"/>
                </a:lnTo>
                <a:lnTo>
                  <a:pt x="75701" y="84342"/>
                </a:lnTo>
                <a:lnTo>
                  <a:pt x="44246" y="110613"/>
                </a:lnTo>
                <a:lnTo>
                  <a:pt x="12790" y="84342"/>
                </a:lnTo>
                <a:lnTo>
                  <a:pt x="0" y="49776"/>
                </a:lnTo>
                <a:lnTo>
                  <a:pt x="0" y="16592"/>
                </a:lnTo>
                <a:lnTo>
                  <a:pt x="44246" y="0"/>
                </a:lnTo>
                <a:close/>
              </a:path>
            </a:pathLst>
          </a:custGeom>
          <a:noFill/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8102395" y="2129298"/>
            <a:ext cx="33184" cy="22122"/>
          </a:xfrm>
          <a:custGeom>
            <a:avLst/>
            <a:gdLst/>
            <a:ahLst/>
            <a:cxnLst/>
            <a:rect l="l" t="t" r="r" b="b"/>
            <a:pathLst>
              <a:path w="33184" h="22122">
                <a:moveTo>
                  <a:pt x="0" y="11061"/>
                </a:moveTo>
                <a:lnTo>
                  <a:pt x="11061" y="22122"/>
                </a:lnTo>
                <a:lnTo>
                  <a:pt x="33184" y="0"/>
                </a:lnTo>
              </a:path>
            </a:pathLst>
          </a:custGeom>
          <a:noFill/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62783" y="2098327"/>
            <a:ext cx="831809" cy="1238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29" b="1">
                <a:solidFill>
                  <a:srgbClr val="1F2937"/>
                </a:solidFill>
                <a:latin typeface="Helvetica, Arial, sans-serif"/>
              </a:rPr>
              <a:t>Cyber-attack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65622" y="2365318"/>
            <a:ext cx="5300846" cy="1122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41">
                <a:solidFill>
                  <a:srgbClr val="475569"/>
                </a:solidFill>
                <a:latin typeface="Helvetica, Arial, sans-serif"/>
              </a:rPr>
              <a:t>External stressors: they damage the elements that are vulnerable to them, starting a cascade.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6532" y="2687893"/>
            <a:ext cx="9180870" cy="403737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0329" y="2796294"/>
            <a:ext cx="6358029" cy="1858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93" b="1">
                <a:solidFill>
                  <a:srgbClr val="1F2937"/>
                </a:solidFill>
                <a:latin typeface="Helvetica, Arial, sans-serif"/>
              </a:rPr>
              <a:t>Putting the blocks together — three layers as a network-of-networks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0329" y="2980050"/>
            <a:ext cx="8486775" cy="1200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Helvetica, Arial, sans-serif"/>
              </a:rPr>
              <a:t>Nodes AND edges carry attributes (names shown going out) and, optionally, rules; edges run within a layer (solid) or across layers (dashed).</a:t>
            </a:r>
          </a:p>
        </p:txBody>
      </p:sp>
      <p:sp>
        <p:nvSpPr>
          <p:cNvPr id="86" name="Freeform 85"/>
          <p:cNvSpPr/>
          <p:nvPr/>
        </p:nvSpPr>
        <p:spPr>
          <a:xfrm>
            <a:off x="2875935" y="3771900"/>
            <a:ext cx="4369210" cy="575187"/>
          </a:xfrm>
          <a:custGeom>
            <a:avLst/>
            <a:gdLst/>
            <a:ahLst/>
            <a:cxnLst/>
            <a:rect l="l" t="t" r="r" b="b"/>
            <a:pathLst>
              <a:path w="4369210" h="575187">
                <a:moveTo>
                  <a:pt x="0" y="575187"/>
                </a:moveTo>
                <a:lnTo>
                  <a:pt x="3097161" y="575187"/>
                </a:lnTo>
                <a:lnTo>
                  <a:pt x="4369210" y="0"/>
                </a:lnTo>
                <a:lnTo>
                  <a:pt x="1272048" y="0"/>
                </a:lnTo>
                <a:close/>
              </a:path>
            </a:pathLst>
          </a:custGeom>
          <a:solidFill>
            <a:srgbClr val="EEF4FF"/>
          </a:solidFill>
          <a:ln w="14287">
            <a:solidFill>
              <a:srgbClr val="C7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053307" y="3836450"/>
            <a:ext cx="82927" cy="92125"/>
          </a:xfrm>
          <a:custGeom>
            <a:avLst/>
            <a:gdLst/>
            <a:ahLst/>
            <a:cxnLst/>
            <a:rect l="l" t="t" r="r" b="b"/>
            <a:pathLst>
              <a:path w="82927" h="92125">
                <a:moveTo>
                  <a:pt x="4593" y="55280"/>
                </a:moveTo>
                <a:lnTo>
                  <a:pt x="2127" y="54575"/>
                </a:lnTo>
                <a:lnTo>
                  <a:pt x="419" y="52661"/>
                </a:lnTo>
                <a:lnTo>
                  <a:pt x="0" y="50130"/>
                </a:lnTo>
                <a:lnTo>
                  <a:pt x="998" y="47768"/>
                </a:lnTo>
                <a:lnTo>
                  <a:pt x="46625" y="757"/>
                </a:lnTo>
                <a:lnTo>
                  <a:pt x="47948" y="0"/>
                </a:lnTo>
                <a:lnTo>
                  <a:pt x="49454" y="234"/>
                </a:lnTo>
                <a:lnTo>
                  <a:pt x="50485" y="1357"/>
                </a:lnTo>
                <a:lnTo>
                  <a:pt x="50589" y="2877"/>
                </a:lnTo>
                <a:moveTo>
                  <a:pt x="50589" y="2877"/>
                </a:moveTo>
                <a:lnTo>
                  <a:pt x="41740" y="30623"/>
                </a:lnTo>
                <a:lnTo>
                  <a:pt x="41485" y="32812"/>
                </a:lnTo>
                <a:lnTo>
                  <a:pt x="42275" y="34869"/>
                </a:lnTo>
                <a:lnTo>
                  <a:pt x="43930" y="36325"/>
                </a:lnTo>
                <a:lnTo>
                  <a:pt x="46072" y="36845"/>
                </a:lnTo>
                <a:moveTo>
                  <a:pt x="46072" y="36845"/>
                </a:moveTo>
                <a:lnTo>
                  <a:pt x="78334" y="36845"/>
                </a:lnTo>
                <a:lnTo>
                  <a:pt x="80800" y="37550"/>
                </a:lnTo>
                <a:lnTo>
                  <a:pt x="82508" y="39464"/>
                </a:lnTo>
                <a:lnTo>
                  <a:pt x="82927" y="41994"/>
                </a:lnTo>
                <a:lnTo>
                  <a:pt x="81929" y="44357"/>
                </a:lnTo>
                <a:lnTo>
                  <a:pt x="36302" y="91368"/>
                </a:lnTo>
                <a:lnTo>
                  <a:pt x="34979" y="92125"/>
                </a:lnTo>
                <a:lnTo>
                  <a:pt x="33473" y="91891"/>
                </a:lnTo>
                <a:lnTo>
                  <a:pt x="32442" y="90768"/>
                </a:lnTo>
                <a:lnTo>
                  <a:pt x="32338" y="89248"/>
                </a:lnTo>
                <a:lnTo>
                  <a:pt x="41187" y="61502"/>
                </a:lnTo>
                <a:lnTo>
                  <a:pt x="41442" y="59313"/>
                </a:lnTo>
                <a:lnTo>
                  <a:pt x="40652" y="57255"/>
                </a:lnTo>
                <a:lnTo>
                  <a:pt x="38996" y="55800"/>
                </a:lnTo>
                <a:lnTo>
                  <a:pt x="36855" y="55280"/>
                </a:lnTo>
                <a:lnTo>
                  <a:pt x="4593" y="55280"/>
                </a:lnTo>
              </a:path>
            </a:pathLst>
          </a:custGeom>
          <a:noFill/>
          <a:ln w="1905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94322" y="3842830"/>
            <a:ext cx="925829" cy="1200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3B5BDB"/>
                </a:solidFill>
                <a:latin typeface="Helvetica, Arial, sans-serif"/>
              </a:rPr>
              <a:t>Electric layer</a:t>
            </a:r>
          </a:p>
        </p:txBody>
      </p:sp>
      <p:sp>
        <p:nvSpPr>
          <p:cNvPr id="89" name="Freeform 88"/>
          <p:cNvSpPr/>
          <p:nvPr/>
        </p:nvSpPr>
        <p:spPr>
          <a:xfrm>
            <a:off x="2875935" y="4712109"/>
            <a:ext cx="4369210" cy="575187"/>
          </a:xfrm>
          <a:custGeom>
            <a:avLst/>
            <a:gdLst/>
            <a:ahLst/>
            <a:cxnLst/>
            <a:rect l="l" t="t" r="r" b="b"/>
            <a:pathLst>
              <a:path w="4369210" h="575187">
                <a:moveTo>
                  <a:pt x="0" y="575187"/>
                </a:moveTo>
                <a:lnTo>
                  <a:pt x="3097161" y="575187"/>
                </a:lnTo>
                <a:lnTo>
                  <a:pt x="4369210" y="0"/>
                </a:lnTo>
                <a:lnTo>
                  <a:pt x="1272048" y="0"/>
                </a:lnTo>
                <a:close/>
              </a:path>
            </a:pathLst>
          </a:custGeom>
          <a:solidFill>
            <a:srgbClr val="E9FBFB"/>
          </a:solidFill>
          <a:ln w="14287">
            <a:solidFill>
              <a:srgbClr val="BF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6062508" y="4781242"/>
            <a:ext cx="64525" cy="87569"/>
          </a:xfrm>
          <a:custGeom>
            <a:avLst/>
            <a:gdLst/>
            <a:ahLst/>
            <a:cxnLst/>
            <a:rect l="l" t="t" r="r" b="b"/>
            <a:pathLst>
              <a:path w="64525" h="87569">
                <a:moveTo>
                  <a:pt x="32262" y="87569"/>
                </a:moveTo>
                <a:lnTo>
                  <a:pt x="36854" y="87240"/>
                </a:lnTo>
                <a:lnTo>
                  <a:pt x="41352" y="86262"/>
                </a:lnTo>
                <a:lnTo>
                  <a:pt x="45665" y="84653"/>
                </a:lnTo>
                <a:lnTo>
                  <a:pt x="49705" y="82447"/>
                </a:lnTo>
                <a:lnTo>
                  <a:pt x="53390" y="79689"/>
                </a:lnTo>
                <a:lnTo>
                  <a:pt x="56645" y="76434"/>
                </a:lnTo>
                <a:lnTo>
                  <a:pt x="59403" y="72749"/>
                </a:lnTo>
                <a:lnTo>
                  <a:pt x="61609" y="68709"/>
                </a:lnTo>
                <a:lnTo>
                  <a:pt x="63218" y="64396"/>
                </a:lnTo>
                <a:lnTo>
                  <a:pt x="64196" y="59898"/>
                </a:lnTo>
                <a:lnTo>
                  <a:pt x="64525" y="55307"/>
                </a:lnTo>
                <a:lnTo>
                  <a:pt x="50698" y="29958"/>
                </a:lnTo>
                <a:lnTo>
                  <a:pt x="32262" y="0"/>
                </a:lnTo>
                <a:lnTo>
                  <a:pt x="13827" y="29958"/>
                </a:lnTo>
                <a:lnTo>
                  <a:pt x="0" y="55307"/>
                </a:lnTo>
                <a:lnTo>
                  <a:pt x="329" y="59898"/>
                </a:lnTo>
                <a:lnTo>
                  <a:pt x="1307" y="64396"/>
                </a:lnTo>
                <a:lnTo>
                  <a:pt x="2916" y="68709"/>
                </a:lnTo>
                <a:lnTo>
                  <a:pt x="5122" y="72749"/>
                </a:lnTo>
                <a:lnTo>
                  <a:pt x="7880" y="76434"/>
                </a:lnTo>
                <a:lnTo>
                  <a:pt x="11135" y="79689"/>
                </a:lnTo>
                <a:lnTo>
                  <a:pt x="14820" y="82447"/>
                </a:lnTo>
                <a:lnTo>
                  <a:pt x="18860" y="84653"/>
                </a:lnTo>
                <a:lnTo>
                  <a:pt x="23173" y="86262"/>
                </a:lnTo>
                <a:lnTo>
                  <a:pt x="27671" y="87240"/>
                </a:lnTo>
                <a:lnTo>
                  <a:pt x="32262" y="87569"/>
                </a:lnTo>
                <a:close/>
              </a:path>
            </a:pathLst>
          </a:custGeom>
          <a:noFill/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94322" y="4783040"/>
            <a:ext cx="745807" cy="1200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Helvetica, Arial, sans-serif"/>
              </a:rPr>
              <a:t>Water layer</a:t>
            </a:r>
          </a:p>
        </p:txBody>
      </p:sp>
      <p:sp>
        <p:nvSpPr>
          <p:cNvPr id="92" name="Freeform 91"/>
          <p:cNvSpPr/>
          <p:nvPr/>
        </p:nvSpPr>
        <p:spPr>
          <a:xfrm>
            <a:off x="2875935" y="5652319"/>
            <a:ext cx="4369210" cy="575187"/>
          </a:xfrm>
          <a:custGeom>
            <a:avLst/>
            <a:gdLst/>
            <a:ahLst/>
            <a:cxnLst/>
            <a:rect l="l" t="t" r="r" b="b"/>
            <a:pathLst>
              <a:path w="4369210" h="575187">
                <a:moveTo>
                  <a:pt x="0" y="575187"/>
                </a:moveTo>
                <a:lnTo>
                  <a:pt x="3097161" y="575187"/>
                </a:lnTo>
                <a:lnTo>
                  <a:pt x="4369210" y="0"/>
                </a:lnTo>
                <a:lnTo>
                  <a:pt x="1272048" y="0"/>
                </a:lnTo>
                <a:close/>
              </a:path>
            </a:pathLst>
          </a:custGeom>
          <a:solidFill>
            <a:srgbClr val="F3F0FF"/>
          </a:solidFill>
          <a:ln w="14287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048682" y="5776758"/>
            <a:ext cx="64524" cy="27654"/>
          </a:xfrm>
          <a:custGeom>
            <a:avLst/>
            <a:gdLst/>
            <a:ahLst/>
            <a:cxnLst/>
            <a:rect l="l" t="t" r="r" b="b"/>
            <a:pathLst>
              <a:path w="64524" h="27654">
                <a:moveTo>
                  <a:pt x="64524" y="27654"/>
                </a:moveTo>
                <a:lnTo>
                  <a:pt x="64524" y="18436"/>
                </a:lnTo>
                <a:lnTo>
                  <a:pt x="64062" y="14334"/>
                </a:lnTo>
                <a:lnTo>
                  <a:pt x="62698" y="10437"/>
                </a:lnTo>
                <a:lnTo>
                  <a:pt x="60502" y="6942"/>
                </a:lnTo>
                <a:lnTo>
                  <a:pt x="57583" y="4022"/>
                </a:lnTo>
                <a:lnTo>
                  <a:pt x="54087" y="1826"/>
                </a:lnTo>
                <a:lnTo>
                  <a:pt x="50191" y="463"/>
                </a:lnTo>
                <a:lnTo>
                  <a:pt x="46088" y="0"/>
                </a:lnTo>
                <a:lnTo>
                  <a:pt x="18435" y="0"/>
                </a:lnTo>
                <a:lnTo>
                  <a:pt x="14333" y="463"/>
                </a:lnTo>
                <a:lnTo>
                  <a:pt x="10436" y="1826"/>
                </a:lnTo>
                <a:lnTo>
                  <a:pt x="6941" y="4022"/>
                </a:lnTo>
                <a:lnTo>
                  <a:pt x="4022" y="6942"/>
                </a:lnTo>
                <a:lnTo>
                  <a:pt x="1825" y="10437"/>
                </a:lnTo>
                <a:lnTo>
                  <a:pt x="462" y="14334"/>
                </a:lnTo>
                <a:lnTo>
                  <a:pt x="0" y="18436"/>
                </a:lnTo>
                <a:lnTo>
                  <a:pt x="0" y="27654"/>
                </a:lnTo>
              </a:path>
            </a:pathLst>
          </a:cu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113206" y="5722042"/>
            <a:ext cx="13677" cy="35691"/>
          </a:xfrm>
          <a:custGeom>
            <a:avLst/>
            <a:gdLst/>
            <a:ahLst/>
            <a:cxnLst/>
            <a:rect l="l" t="t" r="r" b="b"/>
            <a:pathLst>
              <a:path w="13677" h="35691">
                <a:moveTo>
                  <a:pt x="0" y="0"/>
                </a:moveTo>
                <a:lnTo>
                  <a:pt x="4101" y="1607"/>
                </a:lnTo>
                <a:lnTo>
                  <a:pt x="7704" y="4140"/>
                </a:lnTo>
                <a:lnTo>
                  <a:pt x="10603" y="7456"/>
                </a:lnTo>
                <a:lnTo>
                  <a:pt x="12632" y="11365"/>
                </a:lnTo>
                <a:lnTo>
                  <a:pt x="13677" y="15643"/>
                </a:lnTo>
                <a:lnTo>
                  <a:pt x="13677" y="20048"/>
                </a:lnTo>
                <a:lnTo>
                  <a:pt x="12632" y="24326"/>
                </a:lnTo>
                <a:lnTo>
                  <a:pt x="10603" y="28235"/>
                </a:lnTo>
                <a:lnTo>
                  <a:pt x="7704" y="31551"/>
                </a:lnTo>
                <a:lnTo>
                  <a:pt x="4101" y="34084"/>
                </a:lnTo>
                <a:lnTo>
                  <a:pt x="0" y="35691"/>
                </a:lnTo>
              </a:path>
            </a:pathLst>
          </a:cu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127033" y="5777358"/>
            <a:ext cx="13826" cy="27054"/>
          </a:xfrm>
          <a:custGeom>
            <a:avLst/>
            <a:gdLst/>
            <a:ahLst/>
            <a:cxnLst/>
            <a:rect l="l" t="t" r="r" b="b"/>
            <a:pathLst>
              <a:path w="13826" h="27054">
                <a:moveTo>
                  <a:pt x="13826" y="27054"/>
                </a:moveTo>
                <a:lnTo>
                  <a:pt x="13826" y="17836"/>
                </a:lnTo>
                <a:lnTo>
                  <a:pt x="13381" y="13821"/>
                </a:lnTo>
                <a:lnTo>
                  <a:pt x="12071" y="9999"/>
                </a:lnTo>
                <a:lnTo>
                  <a:pt x="9961" y="6555"/>
                </a:lnTo>
                <a:lnTo>
                  <a:pt x="7151" y="3652"/>
                </a:lnTo>
                <a:lnTo>
                  <a:pt x="3777" y="143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058821" y="5717765"/>
            <a:ext cx="44245" cy="44245"/>
          </a:xfrm>
          <a:prstGeom prst="ellipse">
            <a:avLst/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94322" y="5723250"/>
            <a:ext cx="865822" cy="1200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Helvetica, Arial, sans-serif"/>
              </a:rPr>
              <a:t>Service layer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117565" y="4030734"/>
            <a:ext cx="1277579" cy="0"/>
          </a:xfrm>
          <a:prstGeom prst="line">
            <a:avLst/>
          </a:prstGeom>
          <a:ln w="32385">
            <a:solidFill>
              <a:srgbClr val="F973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5188298" y="4171212"/>
            <a:ext cx="313034" cy="673080"/>
          </a:xfrm>
          <a:prstGeom prst="line">
            <a:avLst/>
          </a:prstGeom>
          <a:ln w="20955">
            <a:solidFill>
              <a:srgbClr val="22C55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578761" y="4185039"/>
            <a:ext cx="123887" cy="1612736"/>
          </a:xfrm>
          <a:prstGeom prst="line">
            <a:avLst/>
          </a:prstGeom>
          <a:ln w="20955">
            <a:solidFill>
              <a:srgbClr val="F9731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197147" y="5131332"/>
            <a:ext cx="428625" cy="691331"/>
          </a:xfrm>
          <a:prstGeom prst="line">
            <a:avLst/>
          </a:prstGeom>
          <a:ln w="20955">
            <a:solidFill>
              <a:srgbClr val="F9731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4097101" y="5095936"/>
            <a:ext cx="897071" cy="709029"/>
          </a:xfrm>
          <a:prstGeom prst="line">
            <a:avLst/>
          </a:prstGeom>
          <a:ln w="20955">
            <a:solidFill>
              <a:srgbClr val="22C55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829971" y="3897998"/>
            <a:ext cx="265471" cy="265471"/>
          </a:xfrm>
          <a:custGeom>
            <a:avLst/>
            <a:gdLst/>
            <a:ahLst/>
            <a:cxnLst/>
            <a:rect l="l" t="t" r="r" b="b"/>
            <a:pathLst>
              <a:path w="265471" h="265471">
                <a:moveTo>
                  <a:pt x="132736" y="0"/>
                </a:moveTo>
                <a:lnTo>
                  <a:pt x="265471" y="132736"/>
                </a:lnTo>
                <a:lnTo>
                  <a:pt x="132736" y="265471"/>
                </a:lnTo>
                <a:lnTo>
                  <a:pt x="0" y="132736"/>
                </a:lnTo>
                <a:close/>
              </a:path>
            </a:pathLst>
          </a:custGeom>
          <a:solidFill>
            <a:srgbClr val="EF4444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3921243" y="3984671"/>
            <a:ext cx="82927" cy="92125"/>
          </a:xfrm>
          <a:custGeom>
            <a:avLst/>
            <a:gdLst/>
            <a:ahLst/>
            <a:cxnLst/>
            <a:rect l="l" t="t" r="r" b="b"/>
            <a:pathLst>
              <a:path w="82927" h="92125">
                <a:moveTo>
                  <a:pt x="4593" y="55280"/>
                </a:moveTo>
                <a:lnTo>
                  <a:pt x="2127" y="54575"/>
                </a:lnTo>
                <a:lnTo>
                  <a:pt x="420" y="52661"/>
                </a:lnTo>
                <a:lnTo>
                  <a:pt x="0" y="50131"/>
                </a:lnTo>
                <a:lnTo>
                  <a:pt x="998" y="47768"/>
                </a:lnTo>
                <a:lnTo>
                  <a:pt x="46626" y="757"/>
                </a:lnTo>
                <a:lnTo>
                  <a:pt x="47948" y="0"/>
                </a:lnTo>
                <a:lnTo>
                  <a:pt x="49454" y="234"/>
                </a:lnTo>
                <a:lnTo>
                  <a:pt x="50485" y="1357"/>
                </a:lnTo>
                <a:lnTo>
                  <a:pt x="50589" y="2878"/>
                </a:lnTo>
                <a:moveTo>
                  <a:pt x="50589" y="2878"/>
                </a:moveTo>
                <a:lnTo>
                  <a:pt x="41740" y="30623"/>
                </a:lnTo>
                <a:lnTo>
                  <a:pt x="41485" y="32812"/>
                </a:lnTo>
                <a:lnTo>
                  <a:pt x="42275" y="34870"/>
                </a:lnTo>
                <a:lnTo>
                  <a:pt x="43931" y="36325"/>
                </a:lnTo>
                <a:lnTo>
                  <a:pt x="46073" y="36845"/>
                </a:lnTo>
                <a:moveTo>
                  <a:pt x="46073" y="36845"/>
                </a:moveTo>
                <a:lnTo>
                  <a:pt x="78335" y="36845"/>
                </a:lnTo>
                <a:lnTo>
                  <a:pt x="80801" y="37550"/>
                </a:lnTo>
                <a:lnTo>
                  <a:pt x="82508" y="39464"/>
                </a:lnTo>
                <a:lnTo>
                  <a:pt x="82927" y="41995"/>
                </a:lnTo>
                <a:lnTo>
                  <a:pt x="81930" y="44357"/>
                </a:lnTo>
                <a:lnTo>
                  <a:pt x="36302" y="91368"/>
                </a:lnTo>
                <a:lnTo>
                  <a:pt x="34979" y="92125"/>
                </a:lnTo>
                <a:lnTo>
                  <a:pt x="33473" y="91891"/>
                </a:lnTo>
                <a:lnTo>
                  <a:pt x="32443" y="90768"/>
                </a:lnTo>
                <a:lnTo>
                  <a:pt x="32338" y="89248"/>
                </a:lnTo>
                <a:lnTo>
                  <a:pt x="41187" y="61502"/>
                </a:lnTo>
                <a:lnTo>
                  <a:pt x="41443" y="59313"/>
                </a:lnTo>
                <a:lnTo>
                  <a:pt x="40652" y="57256"/>
                </a:lnTo>
                <a:lnTo>
                  <a:pt x="38997" y="55801"/>
                </a:lnTo>
                <a:lnTo>
                  <a:pt x="36855" y="55280"/>
                </a:lnTo>
                <a:lnTo>
                  <a:pt x="4593" y="5528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33391" y="4199557"/>
            <a:ext cx="858632" cy="1045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83" b="1">
                <a:solidFill>
                  <a:srgbClr val="475569"/>
                </a:solidFill>
                <a:latin typeface="Helvetica, Arial, sans-serif"/>
              </a:rPr>
              <a:t>Electric Source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5433858" y="3897998"/>
            <a:ext cx="265471" cy="265471"/>
          </a:xfrm>
          <a:custGeom>
            <a:avLst/>
            <a:gdLst/>
            <a:ahLst/>
            <a:cxnLst/>
            <a:rect l="l" t="t" r="r" b="b"/>
            <a:pathLst>
              <a:path w="265471" h="265471">
                <a:moveTo>
                  <a:pt x="53095" y="0"/>
                </a:moveTo>
                <a:lnTo>
                  <a:pt x="212377" y="0"/>
                </a:lnTo>
                <a:lnTo>
                  <a:pt x="265471" y="53094"/>
                </a:lnTo>
                <a:lnTo>
                  <a:pt x="265471" y="212377"/>
                </a:lnTo>
                <a:lnTo>
                  <a:pt x="212377" y="265471"/>
                </a:lnTo>
                <a:lnTo>
                  <a:pt x="53095" y="265471"/>
                </a:lnTo>
                <a:lnTo>
                  <a:pt x="0" y="212377"/>
                </a:lnTo>
                <a:lnTo>
                  <a:pt x="0" y="53094"/>
                </a:lnTo>
                <a:close/>
              </a:path>
            </a:pathLst>
          </a:custGeom>
          <a:solidFill>
            <a:srgbClr val="F97316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5525130" y="3984671"/>
            <a:ext cx="82928" cy="92125"/>
          </a:xfrm>
          <a:custGeom>
            <a:avLst/>
            <a:gdLst/>
            <a:ahLst/>
            <a:cxnLst/>
            <a:rect l="l" t="t" r="r" b="b"/>
            <a:pathLst>
              <a:path w="82928" h="92125">
                <a:moveTo>
                  <a:pt x="4593" y="55280"/>
                </a:moveTo>
                <a:lnTo>
                  <a:pt x="2127" y="54575"/>
                </a:lnTo>
                <a:lnTo>
                  <a:pt x="420" y="52661"/>
                </a:lnTo>
                <a:lnTo>
                  <a:pt x="0" y="50131"/>
                </a:lnTo>
                <a:lnTo>
                  <a:pt x="998" y="47768"/>
                </a:lnTo>
                <a:lnTo>
                  <a:pt x="46626" y="757"/>
                </a:lnTo>
                <a:lnTo>
                  <a:pt x="47948" y="0"/>
                </a:lnTo>
                <a:lnTo>
                  <a:pt x="49454" y="234"/>
                </a:lnTo>
                <a:lnTo>
                  <a:pt x="50485" y="1357"/>
                </a:lnTo>
                <a:lnTo>
                  <a:pt x="50589" y="2878"/>
                </a:lnTo>
                <a:moveTo>
                  <a:pt x="50589" y="2878"/>
                </a:moveTo>
                <a:lnTo>
                  <a:pt x="41740" y="30623"/>
                </a:lnTo>
                <a:lnTo>
                  <a:pt x="41485" y="32812"/>
                </a:lnTo>
                <a:lnTo>
                  <a:pt x="42275" y="34870"/>
                </a:lnTo>
                <a:lnTo>
                  <a:pt x="43931" y="36325"/>
                </a:lnTo>
                <a:lnTo>
                  <a:pt x="46073" y="36845"/>
                </a:lnTo>
                <a:moveTo>
                  <a:pt x="46073" y="36845"/>
                </a:moveTo>
                <a:lnTo>
                  <a:pt x="78335" y="36845"/>
                </a:lnTo>
                <a:lnTo>
                  <a:pt x="80801" y="37550"/>
                </a:lnTo>
                <a:lnTo>
                  <a:pt x="82508" y="39464"/>
                </a:lnTo>
                <a:lnTo>
                  <a:pt x="82928" y="41995"/>
                </a:lnTo>
                <a:lnTo>
                  <a:pt x="81930" y="44357"/>
                </a:lnTo>
                <a:lnTo>
                  <a:pt x="36302" y="91368"/>
                </a:lnTo>
                <a:lnTo>
                  <a:pt x="34979" y="92125"/>
                </a:lnTo>
                <a:lnTo>
                  <a:pt x="33473" y="91891"/>
                </a:lnTo>
                <a:lnTo>
                  <a:pt x="32443" y="90768"/>
                </a:lnTo>
                <a:lnTo>
                  <a:pt x="32338" y="89248"/>
                </a:lnTo>
                <a:lnTo>
                  <a:pt x="41187" y="61502"/>
                </a:lnTo>
                <a:lnTo>
                  <a:pt x="41443" y="59313"/>
                </a:lnTo>
                <a:lnTo>
                  <a:pt x="40652" y="57256"/>
                </a:lnTo>
                <a:lnTo>
                  <a:pt x="38997" y="55801"/>
                </a:lnTo>
                <a:lnTo>
                  <a:pt x="36855" y="55280"/>
                </a:lnTo>
                <a:lnTo>
                  <a:pt x="4593" y="55280"/>
                </a:lnTo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67940" y="4199557"/>
            <a:ext cx="597309" cy="1045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83" b="1">
                <a:solidFill>
                  <a:srgbClr val="475569"/>
                </a:solidFill>
                <a:latin typeface="Helvetica, Arial, sans-serif"/>
              </a:rPr>
              <a:t>Substation</a:t>
            </a:r>
          </a:p>
        </p:txBody>
      </p:sp>
      <p:sp>
        <p:nvSpPr>
          <p:cNvPr id="109" name="Freeform 108"/>
          <p:cNvSpPr/>
          <p:nvPr/>
        </p:nvSpPr>
        <p:spPr>
          <a:xfrm>
            <a:off x="4983111" y="4866967"/>
            <a:ext cx="265471" cy="265471"/>
          </a:xfrm>
          <a:custGeom>
            <a:avLst/>
            <a:gdLst/>
            <a:ahLst/>
            <a:cxnLst/>
            <a:rect l="l" t="t" r="r" b="b"/>
            <a:pathLst>
              <a:path w="265471" h="265471">
                <a:moveTo>
                  <a:pt x="53094" y="0"/>
                </a:moveTo>
                <a:lnTo>
                  <a:pt x="212377" y="0"/>
                </a:lnTo>
                <a:lnTo>
                  <a:pt x="265471" y="53094"/>
                </a:lnTo>
                <a:lnTo>
                  <a:pt x="265471" y="212377"/>
                </a:lnTo>
                <a:lnTo>
                  <a:pt x="212377" y="265471"/>
                </a:lnTo>
                <a:lnTo>
                  <a:pt x="53094" y="265471"/>
                </a:lnTo>
                <a:lnTo>
                  <a:pt x="0" y="212377"/>
                </a:lnTo>
                <a:lnTo>
                  <a:pt x="0" y="53094"/>
                </a:lnTo>
                <a:close/>
              </a:path>
            </a:pathLst>
          </a:custGeom>
          <a:solidFill>
            <a:srgbClr val="22C55E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083584" y="4958223"/>
            <a:ext cx="64524" cy="87568"/>
          </a:xfrm>
          <a:custGeom>
            <a:avLst/>
            <a:gdLst/>
            <a:ahLst/>
            <a:cxnLst/>
            <a:rect l="l" t="t" r="r" b="b"/>
            <a:pathLst>
              <a:path w="64524" h="87568">
                <a:moveTo>
                  <a:pt x="32262" y="87568"/>
                </a:moveTo>
                <a:lnTo>
                  <a:pt x="36854" y="87240"/>
                </a:lnTo>
                <a:lnTo>
                  <a:pt x="41352" y="86262"/>
                </a:lnTo>
                <a:lnTo>
                  <a:pt x="45664" y="84653"/>
                </a:lnTo>
                <a:lnTo>
                  <a:pt x="49704" y="82447"/>
                </a:lnTo>
                <a:lnTo>
                  <a:pt x="53389" y="79688"/>
                </a:lnTo>
                <a:lnTo>
                  <a:pt x="56644" y="76434"/>
                </a:lnTo>
                <a:lnTo>
                  <a:pt x="59403" y="72749"/>
                </a:lnTo>
                <a:lnTo>
                  <a:pt x="61609" y="68708"/>
                </a:lnTo>
                <a:lnTo>
                  <a:pt x="63218" y="64396"/>
                </a:lnTo>
                <a:lnTo>
                  <a:pt x="64196" y="59898"/>
                </a:lnTo>
                <a:lnTo>
                  <a:pt x="64524" y="55306"/>
                </a:lnTo>
                <a:lnTo>
                  <a:pt x="50698" y="29958"/>
                </a:lnTo>
                <a:lnTo>
                  <a:pt x="32262" y="0"/>
                </a:lnTo>
                <a:lnTo>
                  <a:pt x="13827" y="29958"/>
                </a:lnTo>
                <a:lnTo>
                  <a:pt x="0" y="55306"/>
                </a:lnTo>
                <a:lnTo>
                  <a:pt x="329" y="59898"/>
                </a:lnTo>
                <a:lnTo>
                  <a:pt x="1307" y="64396"/>
                </a:lnTo>
                <a:lnTo>
                  <a:pt x="2916" y="68708"/>
                </a:lnTo>
                <a:lnTo>
                  <a:pt x="5122" y="72749"/>
                </a:lnTo>
                <a:lnTo>
                  <a:pt x="7880" y="76434"/>
                </a:lnTo>
                <a:lnTo>
                  <a:pt x="11135" y="79688"/>
                </a:lnTo>
                <a:lnTo>
                  <a:pt x="14820" y="82447"/>
                </a:lnTo>
                <a:lnTo>
                  <a:pt x="18860" y="84653"/>
                </a:lnTo>
                <a:lnTo>
                  <a:pt x="23173" y="86262"/>
                </a:lnTo>
                <a:lnTo>
                  <a:pt x="27671" y="87240"/>
                </a:lnTo>
                <a:lnTo>
                  <a:pt x="32262" y="87568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17192" y="5168526"/>
            <a:ext cx="597309" cy="1045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83" b="1">
                <a:solidFill>
                  <a:srgbClr val="475569"/>
                </a:solidFill>
                <a:latin typeface="Helvetica, Arial, sans-serif"/>
              </a:rPr>
              <a:t>Water Pump</a:t>
            </a:r>
          </a:p>
        </p:txBody>
      </p:sp>
      <p:sp>
        <p:nvSpPr>
          <p:cNvPr id="112" name="Oval 111"/>
          <p:cNvSpPr/>
          <p:nvPr/>
        </p:nvSpPr>
        <p:spPr>
          <a:xfrm>
            <a:off x="5588716" y="5841467"/>
            <a:ext cx="254409" cy="254409"/>
          </a:xfrm>
          <a:prstGeom prst="ellipse">
            <a:avLst/>
          </a:prstGeom>
          <a:solidFill>
            <a:srgbClr val="F97316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574060" y="6137495"/>
            <a:ext cx="283722" cy="1045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83" b="1">
                <a:solidFill>
                  <a:srgbClr val="475569"/>
                </a:solidFill>
                <a:latin typeface="Helvetica, Arial, sans-serif"/>
              </a:rPr>
              <a:t>City</a:t>
            </a:r>
          </a:p>
        </p:txBody>
      </p:sp>
      <p:sp>
        <p:nvSpPr>
          <p:cNvPr id="114" name="Oval 113"/>
          <p:cNvSpPr/>
          <p:nvPr/>
        </p:nvSpPr>
        <p:spPr>
          <a:xfrm>
            <a:off x="3835502" y="5783948"/>
            <a:ext cx="254409" cy="254409"/>
          </a:xfrm>
          <a:prstGeom prst="ellipse">
            <a:avLst/>
          </a:prstGeom>
          <a:solidFill>
            <a:srgbClr val="22C55E"/>
          </a:solidFill>
          <a:ln w="2095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16317" y="6079976"/>
            <a:ext cx="492780" cy="1045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83" b="1">
                <a:solidFill>
                  <a:srgbClr val="475569"/>
                </a:solidFill>
                <a:latin typeface="Helvetica, Arial, sans-serif"/>
              </a:rPr>
              <a:t>Hospital</a:t>
            </a:r>
          </a:p>
        </p:txBody>
      </p:sp>
      <p:cxnSp>
        <p:nvCxnSpPr>
          <p:cNvPr id="116" name="Connector 115"/>
          <p:cNvCxnSpPr/>
          <p:nvPr/>
        </p:nvCxnSpPr>
        <p:spPr>
          <a:xfrm flipH="1" flipV="1">
            <a:off x="1935725" y="3766369"/>
            <a:ext cx="2026982" cy="264365"/>
          </a:xfrm>
          <a:prstGeom prst="line">
            <a:avLst/>
          </a:prstGeom>
          <a:ln w="1333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42451" y="3517490"/>
            <a:ext cx="1493274" cy="497758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9880" y="3573350"/>
            <a:ext cx="890433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 b="1">
                <a:solidFill>
                  <a:srgbClr val="1F2937"/>
                </a:solidFill>
                <a:latin typeface="Helvetica, Arial, sans-serif"/>
              </a:rPr>
              <a:t>Electric Source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9880" y="3691014"/>
            <a:ext cx="795030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supply_capacity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9880" y="3785035"/>
            <a:ext cx="988602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vulnerability_level</a:t>
            </a:r>
          </a:p>
        </p:txBody>
      </p:sp>
      <p:sp>
        <p:nvSpPr>
          <p:cNvPr id="121" name="Oval 120"/>
          <p:cNvSpPr/>
          <p:nvPr/>
        </p:nvSpPr>
        <p:spPr>
          <a:xfrm>
            <a:off x="1110553" y="3925651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1390" y="3925651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232227" y="3925651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 flipH="1">
            <a:off x="2101645" y="4999703"/>
            <a:ext cx="3014201" cy="259940"/>
          </a:xfrm>
          <a:prstGeom prst="line">
            <a:avLst/>
          </a:prstGeom>
          <a:ln w="1333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42451" y="5010764"/>
            <a:ext cx="1659193" cy="497758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19880" y="5066624"/>
            <a:ext cx="619432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 b="1">
                <a:solidFill>
                  <a:srgbClr val="1F2937"/>
                </a:solidFill>
                <a:latin typeface="Helvetica, Arial, sans-serif"/>
              </a:rPr>
              <a:t>Water Pump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9880" y="5184288"/>
            <a:ext cx="843423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dependency_level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9880" y="5278309"/>
            <a:ext cx="1230568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backup / backup_duration</a:t>
            </a:r>
          </a:p>
        </p:txBody>
      </p:sp>
      <p:sp>
        <p:nvSpPr>
          <p:cNvPr id="129" name="Oval 128"/>
          <p:cNvSpPr/>
          <p:nvPr/>
        </p:nvSpPr>
        <p:spPr>
          <a:xfrm>
            <a:off x="1193513" y="5418926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254350" y="5418926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315187" y="5418926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 flipH="1">
            <a:off x="1935725" y="5911153"/>
            <a:ext cx="2026982" cy="288700"/>
          </a:xfrm>
          <a:prstGeom prst="line">
            <a:avLst/>
          </a:prstGeom>
          <a:ln w="1333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442451" y="5950974"/>
            <a:ext cx="1493274" cy="497758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19880" y="6006834"/>
            <a:ext cx="511031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 b="1">
                <a:solidFill>
                  <a:srgbClr val="1F2937"/>
                </a:solidFill>
                <a:latin typeface="Helvetica, Arial, sans-serif"/>
              </a:rPr>
              <a:t>Hospital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9880" y="6124498"/>
            <a:ext cx="359491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demand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19880" y="6218519"/>
            <a:ext cx="940209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cost_of_disservice</a:t>
            </a:r>
          </a:p>
        </p:txBody>
      </p:sp>
      <p:sp>
        <p:nvSpPr>
          <p:cNvPr id="137" name="Oval 136"/>
          <p:cNvSpPr/>
          <p:nvPr/>
        </p:nvSpPr>
        <p:spPr>
          <a:xfrm>
            <a:off x="1110553" y="6359135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71390" y="6359135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232227" y="6359135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5715921" y="5968672"/>
            <a:ext cx="2026982" cy="65261"/>
          </a:xfrm>
          <a:prstGeom prst="line">
            <a:avLst/>
          </a:prstGeom>
          <a:ln w="1333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7742903" y="5785054"/>
            <a:ext cx="1493274" cy="497758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820332" y="5840915"/>
            <a:ext cx="294230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 b="1">
                <a:solidFill>
                  <a:srgbClr val="1F2937"/>
                </a:solidFill>
                <a:latin typeface="Helvetica, Arial, sans-serif"/>
              </a:rPr>
              <a:t>City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20332" y="5958578"/>
            <a:ext cx="359491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demand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820332" y="6052599"/>
            <a:ext cx="553064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importance</a:t>
            </a:r>
          </a:p>
        </p:txBody>
      </p:sp>
      <p:sp>
        <p:nvSpPr>
          <p:cNvPr id="145" name="Oval 144"/>
          <p:cNvSpPr/>
          <p:nvPr/>
        </p:nvSpPr>
        <p:spPr>
          <a:xfrm>
            <a:off x="8411005" y="6193216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471842" y="6193216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532679" y="6193216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5341220" y="4515218"/>
            <a:ext cx="2401683" cy="238371"/>
          </a:xfrm>
          <a:prstGeom prst="line">
            <a:avLst/>
          </a:prstGeom>
          <a:ln w="1333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7742903" y="4457700"/>
            <a:ext cx="1659193" cy="591779"/>
          </a:xfrm>
          <a:prstGeom prst="roundRect">
            <a:avLst/>
          </a:prstGeom>
          <a:solidFill>
            <a:srgbClr val="FFFDF3"/>
          </a:solidFill>
          <a:ln w="12382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820332" y="4513560"/>
            <a:ext cx="1703438" cy="1084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12" b="1">
                <a:solidFill>
                  <a:srgbClr val="1F2937"/>
                </a:solidFill>
                <a:latin typeface="Helvetica, Arial, sans-serif"/>
              </a:rPr>
              <a:t>edge:  Substation → Water Pump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820332" y="4631224"/>
            <a:ext cx="456278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capacity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820332" y="4725245"/>
            <a:ext cx="988602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vulnerability_level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20332" y="4819266"/>
            <a:ext cx="311098" cy="9678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25">
                <a:solidFill>
                  <a:srgbClr val="7C3AED"/>
                </a:solidFill>
                <a:latin typeface="DejaVu Sans Mono, Menlo, monospace"/>
              </a:rPr>
              <a:t>rules</a:t>
            </a:r>
          </a:p>
        </p:txBody>
      </p:sp>
      <p:sp>
        <p:nvSpPr>
          <p:cNvPr id="154" name="Oval 153"/>
          <p:cNvSpPr/>
          <p:nvPr/>
        </p:nvSpPr>
        <p:spPr>
          <a:xfrm>
            <a:off x="8493964" y="4959882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554801" y="4959882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615639" y="4959882"/>
            <a:ext cx="35396" cy="353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 flipV="1">
            <a:off x="5566594" y="3545143"/>
            <a:ext cx="2176309" cy="485591"/>
          </a:xfrm>
          <a:prstGeom prst="line">
            <a:avLst/>
          </a:prstGeom>
          <a:ln w="1333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7742903" y="3351570"/>
            <a:ext cx="1659193" cy="398206"/>
          </a:xfrm>
          <a:prstGeom prst="roundRect">
            <a:avLst/>
          </a:prstGeom>
          <a:solidFill>
            <a:srgbClr val="EEF2FF"/>
          </a:solidFill>
          <a:ln w="12382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820332" y="3409781"/>
            <a:ext cx="1590337" cy="10452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83" b="1">
                <a:solidFill>
                  <a:srgbClr val="4338CA"/>
                </a:solidFill>
                <a:latin typeface="Helvetica, Arial, sans-serif"/>
              </a:rPr>
              <a:t>Substation — rule (on a node)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820332" y="3540857"/>
            <a:ext cx="1399253" cy="89043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667">
                <a:solidFill>
                  <a:srgbClr val="1F2937"/>
                </a:solidFill>
                <a:latin typeface="DejaVu Sans Mono, Menlo, monospace"/>
              </a:rPr>
              <a:t>if Electric Source is critical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820332" y="3634878"/>
            <a:ext cx="1710905" cy="89043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667">
                <a:solidFill>
                  <a:srgbClr val="1F2937"/>
                </a:solidFill>
                <a:latin typeface="DejaVu Sans Mono, Menlo, monospace"/>
              </a:rPr>
              <a:t>then Substation.direct_damage is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