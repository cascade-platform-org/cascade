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5A671-1497-48BD-BF70-924F704900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818AAD-F033-4289-ADA0-1D1BEB8371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E69840A-8B8A-4E1F-A74B-EDB602CA98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9D0835-EE44-4359-B93C-11DCFDE47A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D69E822-5E2B-4427-AAC3-2D1624AC25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54D3B26-31FF-46FC-8DD0-6AEA68A404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79A68FF-F4F9-4FA1-9BDC-22E022CAF9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FEAC8E8-6058-41D1-9A67-BA2D8EC286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40B7710-9C6B-4FF7-A69C-D03EE5827D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2FFE12C-FE68-4609-9612-260615C7F5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CA38847-00C8-45A5-B873-22580D7F1B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2188EA-23FC-43D3-BFA0-1461298BB7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283EE3-D291-489E-B030-94E486D6CE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0CC02B-DB93-473D-AAD0-B3BE77092D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DCD28F-48B9-4E69-8171-38A716E97D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085729-423F-41F5-A234-3B1CB30D67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BACB31-CA8E-4A36-974D-ADAA5F3F4E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E91D00-412D-4C3F-A9F2-98DD700B06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E2EE0C-ADB9-437E-8A9B-29045A9376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014E9B-EEDF-4FBB-AC0A-DFD1ABF557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047493-7BD2-4445-98EB-6F7451A192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22C940-9435-4F2B-97B5-52B44883DC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2"/>
          <p:cNvSpPr/>
          <p:nvPr/>
        </p:nvSpPr>
        <p:spPr>
          <a:xfrm>
            <a:off x="377640" y="179640"/>
            <a:ext cx="4376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40" spc="-1" strike="noStrike">
                <a:solidFill>
                  <a:srgbClr val="1f2937"/>
                </a:solidFill>
                <a:latin typeface="Arial"/>
              </a:rPr>
              <a:t>The building blocks of a CASCADE model</a:t>
            </a:r>
            <a:endParaRPr b="0" lang="en-US" sz="17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383400" y="422640"/>
            <a:ext cx="64339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30" spc="-1" strike="noStrike">
                <a:solidFill>
                  <a:srgbClr val="475569"/>
                </a:solidFill>
                <a:latin typeface="Arial"/>
              </a:rPr>
              <a:t>A model is a directed graph: nodes joined by edges. You describe each element with attributes and rules to guide the engine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Connector 4"/>
          <p:cNvCxnSpPr/>
          <p:nvPr/>
        </p:nvCxnSpPr>
        <p:spPr>
          <a:xfrm>
            <a:off x="276480" y="586080"/>
            <a:ext cx="9181080" cy="360"/>
          </a:xfrm>
          <a:prstGeom prst="straightConnector1">
            <a:avLst/>
          </a:prstGeom>
          <a:ln w="14287">
            <a:solidFill>
              <a:srgbClr val="cbd5e1"/>
            </a:solidFill>
            <a:round/>
          </a:ln>
        </p:spPr>
      </p:cxnSp>
      <p:sp>
        <p:nvSpPr>
          <p:cNvPr id="70" name="Rounded Rectangle 5"/>
          <p:cNvSpPr/>
          <p:nvPr/>
        </p:nvSpPr>
        <p:spPr>
          <a:xfrm>
            <a:off x="228600" y="718920"/>
            <a:ext cx="4590000" cy="19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Oval 6"/>
          <p:cNvSpPr/>
          <p:nvPr/>
        </p:nvSpPr>
        <p:spPr>
          <a:xfrm>
            <a:off x="376200" y="824040"/>
            <a:ext cx="165600" cy="16560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427680" y="864000"/>
            <a:ext cx="61920" cy="1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7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689400" y="842400"/>
            <a:ext cx="45360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60" spc="-1" strike="noStrike">
                <a:solidFill>
                  <a:srgbClr val="1f2937"/>
                </a:solidFill>
                <a:latin typeface="Arial"/>
              </a:rPr>
              <a:t>Nodes</a:t>
            </a:r>
            <a:endParaRPr b="0" lang="en-U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Freeform 10"/>
          <p:cNvSpPr/>
          <p:nvPr/>
        </p:nvSpPr>
        <p:spPr>
          <a:xfrm>
            <a:off x="442440" y="1161360"/>
            <a:ext cx="243000" cy="243000"/>
          </a:xfrm>
          <a:custGeom>
            <a:avLst/>
            <a:gdLst>
              <a:gd name="textAreaLeft" fmla="*/ 0 w 243000"/>
              <a:gd name="textAreaRight" fmla="*/ 243360 w 243000"/>
              <a:gd name="textAreaTop" fmla="*/ 0 h 243000"/>
              <a:gd name="textAreaBottom" fmla="*/ 243360 h 243000"/>
            </a:gdLst>
            <a:ahLst/>
            <a:rect l="textAreaLeft" t="textAreaTop" r="textAreaRight" b="textAreaBottom"/>
            <a:pathLst>
              <a:path w="243349" h="243348">
                <a:moveTo>
                  <a:pt x="121674" y="0"/>
                </a:moveTo>
                <a:lnTo>
                  <a:pt x="243349" y="121674"/>
                </a:lnTo>
                <a:lnTo>
                  <a:pt x="121674" y="243348"/>
                </a:lnTo>
                <a:lnTo>
                  <a:pt x="0" y="121674"/>
                </a:lnTo>
                <a:close/>
              </a:path>
            </a:pathLst>
          </a:custGeom>
          <a:solidFill>
            <a:srgbClr val="22c55e"/>
          </a:solidFill>
          <a:ln w="2095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755640" y="1188000"/>
            <a:ext cx="3880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f2937"/>
                </a:solidFill>
                <a:latin typeface="Arial"/>
              </a:rPr>
              <a:t>Source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739080" y="1315080"/>
            <a:ext cx="108612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90" spc="-1" strike="noStrike">
                <a:solidFill>
                  <a:srgbClr val="475569"/>
                </a:solidFill>
                <a:latin typeface="Arial"/>
              </a:rPr>
              <a:t>where a resource originates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4"/>
          <p:cNvSpPr/>
          <p:nvPr/>
        </p:nvSpPr>
        <p:spPr>
          <a:xfrm>
            <a:off x="739080" y="1419480"/>
            <a:ext cx="77364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" spc="-1" strike="noStrike">
                <a:solidFill>
                  <a:srgbClr val="94a3b8"/>
                </a:solidFill>
                <a:latin typeface="Arial"/>
              </a:rPr>
              <a:t>power plant, reservoir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Freeform 15"/>
          <p:cNvSpPr/>
          <p:nvPr/>
        </p:nvSpPr>
        <p:spPr>
          <a:xfrm>
            <a:off x="1969200" y="1161360"/>
            <a:ext cx="243000" cy="243000"/>
          </a:xfrm>
          <a:custGeom>
            <a:avLst/>
            <a:gdLst>
              <a:gd name="textAreaLeft" fmla="*/ 0 w 243000"/>
              <a:gd name="textAreaRight" fmla="*/ 243360 w 243000"/>
              <a:gd name="textAreaTop" fmla="*/ 0 h 243000"/>
              <a:gd name="textAreaBottom" fmla="*/ 243360 h 243000"/>
            </a:gdLst>
            <a:ahLst/>
            <a:rect l="textAreaLeft" t="textAreaTop" r="textAreaRight" b="textAreaBottom"/>
            <a:pathLst>
              <a:path w="243349" h="243348">
                <a:moveTo>
                  <a:pt x="48670" y="0"/>
                </a:moveTo>
                <a:lnTo>
                  <a:pt x="194679" y="0"/>
                </a:lnTo>
                <a:lnTo>
                  <a:pt x="243349" y="48670"/>
                </a:lnTo>
                <a:lnTo>
                  <a:pt x="243349" y="194679"/>
                </a:lnTo>
                <a:lnTo>
                  <a:pt x="194679" y="243348"/>
                </a:lnTo>
                <a:lnTo>
                  <a:pt x="48670" y="243348"/>
                </a:lnTo>
                <a:lnTo>
                  <a:pt x="0" y="194679"/>
                </a:lnTo>
                <a:lnTo>
                  <a:pt x="0" y="48670"/>
                </a:lnTo>
                <a:close/>
              </a:path>
            </a:pathLst>
          </a:custGeom>
          <a:solidFill>
            <a:srgbClr val="22c55e"/>
          </a:solidFill>
          <a:ln w="2095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2273040" y="1188000"/>
            <a:ext cx="7434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f2937"/>
                </a:solidFill>
                <a:latin typeface="Arial"/>
              </a:rPr>
              <a:t>Infrastructure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8"/>
          <p:cNvSpPr/>
          <p:nvPr/>
        </p:nvSpPr>
        <p:spPr>
          <a:xfrm>
            <a:off x="2230560" y="1315080"/>
            <a:ext cx="11595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90" spc="-1" strike="noStrike">
                <a:solidFill>
                  <a:srgbClr val="475569"/>
                </a:solidFill>
                <a:latin typeface="Arial"/>
              </a:rPr>
              <a:t>Transform or carry a resource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9"/>
          <p:cNvSpPr/>
          <p:nvPr/>
        </p:nvSpPr>
        <p:spPr>
          <a:xfrm>
            <a:off x="2234880" y="1419480"/>
            <a:ext cx="81936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" spc="-1" strike="noStrike">
                <a:solidFill>
                  <a:srgbClr val="94a3b8"/>
                </a:solidFill>
                <a:latin typeface="Arial"/>
              </a:rPr>
              <a:t>substation, pump, road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Oval 20"/>
          <p:cNvSpPr/>
          <p:nvPr/>
        </p:nvSpPr>
        <p:spPr>
          <a:xfrm>
            <a:off x="447840" y="1819440"/>
            <a:ext cx="231840" cy="231840"/>
          </a:xfrm>
          <a:prstGeom prst="ellipse">
            <a:avLst/>
          </a:prstGeom>
          <a:solidFill>
            <a:srgbClr val="22c55e"/>
          </a:solidFill>
          <a:ln w="2095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774360" y="1840680"/>
            <a:ext cx="41112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f2937"/>
                </a:solidFill>
                <a:latin typeface="Arial"/>
              </a:rPr>
              <a:t>Service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792360" y="1967760"/>
            <a:ext cx="8805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90" spc="-1" strike="noStrike">
                <a:solidFill>
                  <a:srgbClr val="475569"/>
                </a:solidFill>
                <a:latin typeface="Arial"/>
              </a:rPr>
              <a:t>a consumer / demand 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811800" y="2072160"/>
            <a:ext cx="72648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" spc="-1" strike="noStrike">
                <a:solidFill>
                  <a:srgbClr val="94a3b8"/>
                </a:solidFill>
                <a:latin typeface="Arial"/>
              </a:rPr>
              <a:t>hospital, city, factory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26"/>
          <p:cNvSpPr/>
          <p:nvPr/>
        </p:nvSpPr>
        <p:spPr>
          <a:xfrm>
            <a:off x="1938600" y="1819440"/>
            <a:ext cx="231840" cy="2318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2095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31"/>
          <p:cNvSpPr/>
          <p:nvPr/>
        </p:nvSpPr>
        <p:spPr>
          <a:xfrm>
            <a:off x="2254320" y="1840680"/>
            <a:ext cx="55260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1f2937"/>
                </a:solidFill>
                <a:latin typeface="Arial"/>
              </a:rPr>
              <a:t>Personnel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2"/>
          <p:cNvSpPr/>
          <p:nvPr/>
        </p:nvSpPr>
        <p:spPr>
          <a:xfrm>
            <a:off x="2240640" y="1967760"/>
            <a:ext cx="61992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90" spc="-1" strike="noStrike">
                <a:solidFill>
                  <a:srgbClr val="475569"/>
                </a:solidFill>
                <a:latin typeface="Arial"/>
              </a:rPr>
              <a:t>a person or role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3"/>
          <p:cNvSpPr/>
          <p:nvPr/>
        </p:nvSpPr>
        <p:spPr>
          <a:xfrm>
            <a:off x="2251440" y="2072160"/>
            <a:ext cx="78588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40" spc="-1" strike="noStrike">
                <a:solidFill>
                  <a:srgbClr val="94a3b8"/>
                </a:solidFill>
                <a:latin typeface="Arial"/>
              </a:rPr>
              <a:t>operator, control room</a:t>
            </a:r>
            <a:endParaRPr b="0" lang="en-US" sz="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4"/>
          <p:cNvSpPr/>
          <p:nvPr/>
        </p:nvSpPr>
        <p:spPr>
          <a:xfrm>
            <a:off x="3459960" y="1092240"/>
            <a:ext cx="79200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90" spc="-1" strike="noStrike">
                <a:solidFill>
                  <a:srgbClr val="1f2937"/>
                </a:solidFill>
                <a:latin typeface="Arial"/>
              </a:rPr>
              <a:t>Categories </a:t>
            </a:r>
            <a:endParaRPr b="0" lang="en-US" sz="79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790" spc="-1" strike="noStrike">
                <a:solidFill>
                  <a:srgbClr val="1f2937"/>
                </a:solidFill>
                <a:latin typeface="Arial"/>
              </a:rPr>
              <a:t>with visual icons</a:t>
            </a:r>
            <a:endParaRPr b="0" lang="en-US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35"/>
          <p:cNvSpPr/>
          <p:nvPr/>
        </p:nvSpPr>
        <p:spPr>
          <a:xfrm>
            <a:off x="3443040" y="1338480"/>
            <a:ext cx="221040" cy="221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382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Freeform 36"/>
          <p:cNvSpPr/>
          <p:nvPr/>
        </p:nvSpPr>
        <p:spPr>
          <a:xfrm>
            <a:off x="3508200" y="1398240"/>
            <a:ext cx="90720" cy="100800"/>
          </a:xfrm>
          <a:custGeom>
            <a:avLst/>
            <a:gdLst>
              <a:gd name="textAreaLeft" fmla="*/ 0 w 90720"/>
              <a:gd name="textAreaRight" fmla="*/ 91080 w 90720"/>
              <a:gd name="textAreaTop" fmla="*/ 0 h 100800"/>
              <a:gd name="textAreaBottom" fmla="*/ 101160 h 100800"/>
            </a:gdLst>
            <a:ahLst/>
            <a:rect l="textAreaLeft" t="textAreaTop" r="textAreaRight" b="textAreaBottom"/>
            <a:pathLst>
              <a:path w="91220" h="101337">
                <a:moveTo>
                  <a:pt x="5052" y="60808"/>
                </a:moveTo>
                <a:lnTo>
                  <a:pt x="2339" y="60032"/>
                </a:lnTo>
                <a:lnTo>
                  <a:pt x="462" y="57927"/>
                </a:lnTo>
                <a:lnTo>
                  <a:pt x="0" y="55143"/>
                </a:lnTo>
                <a:lnTo>
                  <a:pt x="1098" y="52544"/>
                </a:lnTo>
                <a:lnTo>
                  <a:pt x="51288" y="833"/>
                </a:lnTo>
                <a:lnTo>
                  <a:pt x="52743" y="0"/>
                </a:lnTo>
                <a:lnTo>
                  <a:pt x="54400" y="257"/>
                </a:lnTo>
                <a:lnTo>
                  <a:pt x="55533" y="1492"/>
                </a:lnTo>
                <a:lnTo>
                  <a:pt x="55648" y="3165"/>
                </a:lnTo>
                <a:moveTo>
                  <a:pt x="55648" y="3165"/>
                </a:moveTo>
                <a:lnTo>
                  <a:pt x="45914" y="33685"/>
                </a:lnTo>
                <a:lnTo>
                  <a:pt x="45633" y="36093"/>
                </a:lnTo>
                <a:lnTo>
                  <a:pt x="46503" y="38356"/>
                </a:lnTo>
                <a:lnTo>
                  <a:pt x="48324" y="39957"/>
                </a:lnTo>
                <a:lnTo>
                  <a:pt x="50680" y="40529"/>
                </a:lnTo>
                <a:moveTo>
                  <a:pt x="50680" y="40529"/>
                </a:moveTo>
                <a:lnTo>
                  <a:pt x="86168" y="40529"/>
                </a:lnTo>
                <a:lnTo>
                  <a:pt x="88881" y="41305"/>
                </a:lnTo>
                <a:lnTo>
                  <a:pt x="90759" y="43410"/>
                </a:lnTo>
                <a:lnTo>
                  <a:pt x="91220" y="46194"/>
                </a:lnTo>
                <a:lnTo>
                  <a:pt x="90123" y="48793"/>
                </a:lnTo>
                <a:lnTo>
                  <a:pt x="39932" y="100504"/>
                </a:lnTo>
                <a:lnTo>
                  <a:pt x="38477" y="101337"/>
                </a:lnTo>
                <a:lnTo>
                  <a:pt x="36820" y="101080"/>
                </a:lnTo>
                <a:lnTo>
                  <a:pt x="35687" y="99845"/>
                </a:lnTo>
                <a:lnTo>
                  <a:pt x="35572" y="98172"/>
                </a:lnTo>
                <a:lnTo>
                  <a:pt x="45306" y="67652"/>
                </a:lnTo>
                <a:lnTo>
                  <a:pt x="45587" y="65244"/>
                </a:lnTo>
                <a:lnTo>
                  <a:pt x="44717" y="62981"/>
                </a:lnTo>
                <a:lnTo>
                  <a:pt x="42896" y="61380"/>
                </a:lnTo>
                <a:lnTo>
                  <a:pt x="40540" y="60808"/>
                </a:lnTo>
                <a:lnTo>
                  <a:pt x="5052" y="60808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37"/>
          <p:cNvSpPr/>
          <p:nvPr/>
        </p:nvSpPr>
        <p:spPr>
          <a:xfrm>
            <a:off x="3779640" y="1420920"/>
            <a:ext cx="30420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475569"/>
                </a:solidFill>
                <a:latin typeface="Arial"/>
              </a:rPr>
              <a:t>electric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38"/>
          <p:cNvSpPr/>
          <p:nvPr/>
        </p:nvSpPr>
        <p:spPr>
          <a:xfrm>
            <a:off x="3443040" y="1593000"/>
            <a:ext cx="221040" cy="221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382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Freeform 39"/>
          <p:cNvSpPr/>
          <p:nvPr/>
        </p:nvSpPr>
        <p:spPr>
          <a:xfrm>
            <a:off x="3518280" y="1657800"/>
            <a:ext cx="70560" cy="96120"/>
          </a:xfrm>
          <a:custGeom>
            <a:avLst/>
            <a:gdLst>
              <a:gd name="textAreaLeft" fmla="*/ 0 w 70560"/>
              <a:gd name="textAreaRight" fmla="*/ 70920 w 70560"/>
              <a:gd name="textAreaTop" fmla="*/ 0 h 96120"/>
              <a:gd name="textAreaBottom" fmla="*/ 96480 h 96120"/>
            </a:gdLst>
            <a:ahLst/>
            <a:rect l="textAreaLeft" t="textAreaTop" r="textAreaRight" b="textAreaBottom"/>
            <a:pathLst>
              <a:path w="70976" h="96326">
                <a:moveTo>
                  <a:pt x="35488" y="96326"/>
                </a:moveTo>
                <a:lnTo>
                  <a:pt x="40539" y="95965"/>
                </a:lnTo>
                <a:lnTo>
                  <a:pt x="45486" y="94888"/>
                </a:lnTo>
                <a:lnTo>
                  <a:pt x="50230" y="93119"/>
                </a:lnTo>
                <a:lnTo>
                  <a:pt x="54674" y="90692"/>
                </a:lnTo>
                <a:lnTo>
                  <a:pt x="58728" y="87658"/>
                </a:lnTo>
                <a:lnTo>
                  <a:pt x="62308" y="84077"/>
                </a:lnTo>
                <a:lnTo>
                  <a:pt x="65343" y="80024"/>
                </a:lnTo>
                <a:lnTo>
                  <a:pt x="67769" y="75580"/>
                </a:lnTo>
                <a:lnTo>
                  <a:pt x="69539" y="70836"/>
                </a:lnTo>
                <a:lnTo>
                  <a:pt x="70615" y="65888"/>
                </a:lnTo>
                <a:lnTo>
                  <a:pt x="70976" y="60837"/>
                </a:lnTo>
                <a:lnTo>
                  <a:pt x="55767" y="32954"/>
                </a:lnTo>
                <a:lnTo>
                  <a:pt x="35488" y="0"/>
                </a:lnTo>
                <a:lnTo>
                  <a:pt x="15209" y="32954"/>
                </a:lnTo>
                <a:lnTo>
                  <a:pt x="0" y="60837"/>
                </a:lnTo>
                <a:lnTo>
                  <a:pt x="361" y="65888"/>
                </a:lnTo>
                <a:lnTo>
                  <a:pt x="1437" y="70836"/>
                </a:lnTo>
                <a:lnTo>
                  <a:pt x="3207" y="75580"/>
                </a:lnTo>
                <a:lnTo>
                  <a:pt x="5633" y="80024"/>
                </a:lnTo>
                <a:lnTo>
                  <a:pt x="8668" y="84077"/>
                </a:lnTo>
                <a:lnTo>
                  <a:pt x="12248" y="87658"/>
                </a:lnTo>
                <a:lnTo>
                  <a:pt x="16302" y="90692"/>
                </a:lnTo>
                <a:lnTo>
                  <a:pt x="20746" y="93119"/>
                </a:lnTo>
                <a:lnTo>
                  <a:pt x="25490" y="94888"/>
                </a:lnTo>
                <a:lnTo>
                  <a:pt x="30438" y="95965"/>
                </a:lnTo>
                <a:lnTo>
                  <a:pt x="35488" y="96326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40"/>
          <p:cNvSpPr/>
          <p:nvPr/>
        </p:nvSpPr>
        <p:spPr>
          <a:xfrm>
            <a:off x="3776760" y="1675440"/>
            <a:ext cx="23112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475569"/>
                </a:solidFill>
                <a:latin typeface="Arial"/>
              </a:rPr>
              <a:t>water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41"/>
          <p:cNvSpPr/>
          <p:nvPr/>
        </p:nvSpPr>
        <p:spPr>
          <a:xfrm>
            <a:off x="3443040" y="1847160"/>
            <a:ext cx="221040" cy="221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382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Freeform 42"/>
          <p:cNvSpPr/>
          <p:nvPr/>
        </p:nvSpPr>
        <p:spPr>
          <a:xfrm>
            <a:off x="3503160" y="1917360"/>
            <a:ext cx="60480" cy="70560"/>
          </a:xfrm>
          <a:custGeom>
            <a:avLst/>
            <a:gdLst>
              <a:gd name="textAreaLeft" fmla="*/ 0 w 60480"/>
              <a:gd name="textAreaRight" fmla="*/ 60840 w 60480"/>
              <a:gd name="textAreaTop" fmla="*/ 0 h 70560"/>
              <a:gd name="textAreaBottom" fmla="*/ 70920 h 70560"/>
            </a:gdLst>
            <a:ahLst/>
            <a:rect l="textAreaLeft" t="textAreaTop" r="textAreaRight" b="textAreaBottom"/>
            <a:pathLst>
              <a:path w="60838" h="70976">
                <a:moveTo>
                  <a:pt x="60838" y="70976"/>
                </a:moveTo>
                <a:lnTo>
                  <a:pt x="60838" y="10139"/>
                </a:lnTo>
                <a:lnTo>
                  <a:pt x="60066" y="6259"/>
                </a:lnTo>
                <a:lnTo>
                  <a:pt x="57868" y="2970"/>
                </a:lnTo>
                <a:lnTo>
                  <a:pt x="54578" y="772"/>
                </a:lnTo>
                <a:lnTo>
                  <a:pt x="50698" y="0"/>
                </a:lnTo>
                <a:lnTo>
                  <a:pt x="10140" y="0"/>
                </a:lnTo>
                <a:lnTo>
                  <a:pt x="6260" y="772"/>
                </a:lnTo>
                <a:lnTo>
                  <a:pt x="2970" y="2970"/>
                </a:lnTo>
                <a:lnTo>
                  <a:pt x="772" y="6259"/>
                </a:lnTo>
                <a:lnTo>
                  <a:pt x="0" y="10139"/>
                </a:lnTo>
                <a:lnTo>
                  <a:pt x="0" y="65907"/>
                </a:lnTo>
                <a:lnTo>
                  <a:pt x="386" y="67847"/>
                </a:lnTo>
                <a:lnTo>
                  <a:pt x="1485" y="69492"/>
                </a:lnTo>
                <a:lnTo>
                  <a:pt x="3130" y="70591"/>
                </a:lnTo>
                <a:lnTo>
                  <a:pt x="5070" y="70976"/>
                </a:lnTo>
                <a:lnTo>
                  <a:pt x="15210" y="70976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5920" bIns="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Freeform 43"/>
          <p:cNvSpPr/>
          <p:nvPr/>
        </p:nvSpPr>
        <p:spPr>
          <a:xfrm>
            <a:off x="3538440" y="1988280"/>
            <a:ext cx="29880" cy="360"/>
          </a:xfrm>
          <a:custGeom>
            <a:avLst/>
            <a:gdLst>
              <a:gd name="textAreaLeft" fmla="*/ 0 w 29880"/>
              <a:gd name="textAreaRight" fmla="*/ 30240 w 298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30418" h="0">
                <a:moveTo>
                  <a:pt x="3041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Freeform 44"/>
          <p:cNvSpPr/>
          <p:nvPr/>
        </p:nvSpPr>
        <p:spPr>
          <a:xfrm>
            <a:off x="3564000" y="1937520"/>
            <a:ext cx="40320" cy="50400"/>
          </a:xfrm>
          <a:custGeom>
            <a:avLst/>
            <a:gdLst>
              <a:gd name="textAreaLeft" fmla="*/ 0 w 40320"/>
              <a:gd name="textAreaRight" fmla="*/ 40680 w 40320"/>
              <a:gd name="textAreaTop" fmla="*/ 0 h 50400"/>
              <a:gd name="textAreaBottom" fmla="*/ 50760 h 50400"/>
            </a:gdLst>
            <a:ahLst/>
            <a:rect l="textAreaLeft" t="textAreaTop" r="textAreaRight" b="textAreaBottom"/>
            <a:pathLst>
              <a:path w="40558" h="50697">
                <a:moveTo>
                  <a:pt x="25348" y="50697"/>
                </a:moveTo>
                <a:lnTo>
                  <a:pt x="35488" y="50697"/>
                </a:lnTo>
                <a:lnTo>
                  <a:pt x="37428" y="50312"/>
                </a:lnTo>
                <a:lnTo>
                  <a:pt x="39073" y="49213"/>
                </a:lnTo>
                <a:lnTo>
                  <a:pt x="40172" y="47568"/>
                </a:lnTo>
                <a:lnTo>
                  <a:pt x="40558" y="45628"/>
                </a:lnTo>
                <a:lnTo>
                  <a:pt x="40558" y="27123"/>
                </a:lnTo>
                <a:lnTo>
                  <a:pt x="40484" y="26273"/>
                </a:lnTo>
                <a:lnTo>
                  <a:pt x="40269" y="25446"/>
                </a:lnTo>
                <a:lnTo>
                  <a:pt x="39919" y="24668"/>
                </a:lnTo>
                <a:lnTo>
                  <a:pt x="39442" y="23960"/>
                </a:lnTo>
                <a:moveTo>
                  <a:pt x="39442" y="23960"/>
                </a:moveTo>
                <a:lnTo>
                  <a:pt x="21800" y="1906"/>
                </a:lnTo>
                <a:lnTo>
                  <a:pt x="20998" y="1105"/>
                </a:lnTo>
                <a:lnTo>
                  <a:pt x="20039" y="503"/>
                </a:lnTo>
                <a:lnTo>
                  <a:pt x="18970" y="128"/>
                </a:lnTo>
                <a:lnTo>
                  <a:pt x="17845" y="0"/>
                </a:lnTo>
                <a:moveTo>
                  <a:pt x="1784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Oval 45"/>
          <p:cNvSpPr/>
          <p:nvPr/>
        </p:nvSpPr>
        <p:spPr>
          <a:xfrm>
            <a:off x="3567960" y="1977120"/>
            <a:ext cx="21600" cy="21600"/>
          </a:xfrm>
          <a:prstGeom prst="ellipse">
            <a:avLst/>
          </a:pr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9160" bIns="-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Oval 46"/>
          <p:cNvSpPr/>
          <p:nvPr/>
        </p:nvSpPr>
        <p:spPr>
          <a:xfrm>
            <a:off x="3517200" y="1977120"/>
            <a:ext cx="21600" cy="21600"/>
          </a:xfrm>
          <a:prstGeom prst="ellipse">
            <a:avLst/>
          </a:pr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9160" bIns="-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47"/>
          <p:cNvSpPr/>
          <p:nvPr/>
        </p:nvSpPr>
        <p:spPr>
          <a:xfrm>
            <a:off x="3766680" y="1929960"/>
            <a:ext cx="38052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475569"/>
                </a:solidFill>
                <a:latin typeface="Arial"/>
              </a:rPr>
              <a:t>transport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48"/>
          <p:cNvSpPr/>
          <p:nvPr/>
        </p:nvSpPr>
        <p:spPr>
          <a:xfrm>
            <a:off x="3443040" y="2101680"/>
            <a:ext cx="221040" cy="221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382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Freeform 49"/>
          <p:cNvSpPr/>
          <p:nvPr/>
        </p:nvSpPr>
        <p:spPr>
          <a:xfrm>
            <a:off x="3503160" y="2227320"/>
            <a:ext cx="70560" cy="29880"/>
          </a:xfrm>
          <a:custGeom>
            <a:avLst/>
            <a:gdLst>
              <a:gd name="textAreaLeft" fmla="*/ 0 w 70560"/>
              <a:gd name="textAreaRight" fmla="*/ 70920 w 70560"/>
              <a:gd name="textAreaTop" fmla="*/ 0 h 29880"/>
              <a:gd name="textAreaBottom" fmla="*/ 30240 h 29880"/>
            </a:gdLst>
            <a:ahLst/>
            <a:rect l="textAreaLeft" t="textAreaTop" r="textAreaRight" b="textAreaBottom"/>
            <a:pathLst>
              <a:path w="70977" h="30418">
                <a:moveTo>
                  <a:pt x="70977" y="30418"/>
                </a:moveTo>
                <a:lnTo>
                  <a:pt x="70977" y="20279"/>
                </a:lnTo>
                <a:lnTo>
                  <a:pt x="70469" y="15766"/>
                </a:lnTo>
                <a:lnTo>
                  <a:pt x="68969" y="11480"/>
                </a:lnTo>
                <a:lnTo>
                  <a:pt x="66553" y="7635"/>
                </a:lnTo>
                <a:lnTo>
                  <a:pt x="63342" y="4424"/>
                </a:lnTo>
                <a:lnTo>
                  <a:pt x="59497" y="2008"/>
                </a:lnTo>
                <a:lnTo>
                  <a:pt x="55211" y="508"/>
                </a:lnTo>
                <a:lnTo>
                  <a:pt x="50698" y="0"/>
                </a:lnTo>
                <a:lnTo>
                  <a:pt x="20280" y="0"/>
                </a:lnTo>
                <a:lnTo>
                  <a:pt x="15767" y="508"/>
                </a:lnTo>
                <a:lnTo>
                  <a:pt x="11481" y="2008"/>
                </a:lnTo>
                <a:lnTo>
                  <a:pt x="7636" y="4424"/>
                </a:lnTo>
                <a:lnTo>
                  <a:pt x="4425" y="7635"/>
                </a:lnTo>
                <a:lnTo>
                  <a:pt x="2009" y="11480"/>
                </a:lnTo>
                <a:lnTo>
                  <a:pt x="509" y="15766"/>
                </a:lnTo>
                <a:lnTo>
                  <a:pt x="0" y="20279"/>
                </a:lnTo>
                <a:lnTo>
                  <a:pt x="0" y="30418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4760" bIns="-14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Freeform 50"/>
          <p:cNvSpPr/>
          <p:nvPr/>
        </p:nvSpPr>
        <p:spPr>
          <a:xfrm>
            <a:off x="3574080" y="2167200"/>
            <a:ext cx="14760" cy="38880"/>
          </a:xfrm>
          <a:custGeom>
            <a:avLst/>
            <a:gdLst>
              <a:gd name="textAreaLeft" fmla="*/ 0 w 14760"/>
              <a:gd name="textAreaRight" fmla="*/ 15120 w 14760"/>
              <a:gd name="textAreaTop" fmla="*/ 0 h 38880"/>
              <a:gd name="textAreaBottom" fmla="*/ 39240 h 38880"/>
            </a:gdLst>
            <a:ahLst/>
            <a:rect l="textAreaLeft" t="textAreaTop" r="textAreaRight" b="textAreaBottom"/>
            <a:pathLst>
              <a:path w="15045" h="39260">
                <a:moveTo>
                  <a:pt x="0" y="0"/>
                </a:moveTo>
                <a:lnTo>
                  <a:pt x="4511" y="1767"/>
                </a:lnTo>
                <a:lnTo>
                  <a:pt x="8474" y="4554"/>
                </a:lnTo>
                <a:lnTo>
                  <a:pt x="11663" y="8201"/>
                </a:lnTo>
                <a:lnTo>
                  <a:pt x="13896" y="12501"/>
                </a:lnTo>
                <a:lnTo>
                  <a:pt x="15045" y="17207"/>
                </a:lnTo>
                <a:lnTo>
                  <a:pt x="15045" y="22052"/>
                </a:lnTo>
                <a:lnTo>
                  <a:pt x="13896" y="26759"/>
                </a:lnTo>
                <a:lnTo>
                  <a:pt x="11663" y="31058"/>
                </a:lnTo>
                <a:lnTo>
                  <a:pt x="8474" y="34706"/>
                </a:lnTo>
                <a:lnTo>
                  <a:pt x="4511" y="37493"/>
                </a:lnTo>
                <a:lnTo>
                  <a:pt x="0" y="39260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760" bIns="-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Freeform 51"/>
          <p:cNvSpPr/>
          <p:nvPr/>
        </p:nvSpPr>
        <p:spPr>
          <a:xfrm>
            <a:off x="3589200" y="2228040"/>
            <a:ext cx="14760" cy="29520"/>
          </a:xfrm>
          <a:custGeom>
            <a:avLst/>
            <a:gdLst>
              <a:gd name="textAreaLeft" fmla="*/ 0 w 14760"/>
              <a:gd name="textAreaRight" fmla="*/ 15120 w 14760"/>
              <a:gd name="textAreaTop" fmla="*/ 0 h 29520"/>
              <a:gd name="textAreaBottom" fmla="*/ 29880 h 29520"/>
            </a:gdLst>
            <a:ahLst/>
            <a:rect l="textAreaLeft" t="textAreaTop" r="textAreaRight" b="textAreaBottom"/>
            <a:pathLst>
              <a:path w="15210" h="29759">
                <a:moveTo>
                  <a:pt x="15210" y="29759"/>
                </a:moveTo>
                <a:lnTo>
                  <a:pt x="15210" y="19620"/>
                </a:lnTo>
                <a:lnTo>
                  <a:pt x="14719" y="15203"/>
                </a:lnTo>
                <a:lnTo>
                  <a:pt x="13279" y="11000"/>
                </a:lnTo>
                <a:lnTo>
                  <a:pt x="10958" y="7211"/>
                </a:lnTo>
                <a:lnTo>
                  <a:pt x="7867" y="4018"/>
                </a:lnTo>
                <a:lnTo>
                  <a:pt x="4155" y="157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5120" bIns="-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Oval 52"/>
          <p:cNvSpPr/>
          <p:nvPr/>
        </p:nvSpPr>
        <p:spPr>
          <a:xfrm>
            <a:off x="3516480" y="2164680"/>
            <a:ext cx="43920" cy="43920"/>
          </a:xfrm>
          <a:prstGeom prst="ellipse">
            <a:avLst/>
          </a:prstGeom>
          <a:noFill/>
          <a:ln w="19050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4040" bIns="-14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53"/>
          <p:cNvSpPr/>
          <p:nvPr/>
        </p:nvSpPr>
        <p:spPr>
          <a:xfrm>
            <a:off x="3753720" y="2184480"/>
            <a:ext cx="37764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475569"/>
                </a:solidFill>
                <a:latin typeface="Arial"/>
              </a:rPr>
              <a:t>manager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46"/>
          <p:cNvSpPr/>
          <p:nvPr/>
        </p:nvSpPr>
        <p:spPr>
          <a:xfrm>
            <a:off x="2469600" y="6436800"/>
            <a:ext cx="4794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10" spc="-1" strike="noStrike">
                <a:solidFill>
                  <a:srgbClr val="ffffff"/>
                </a:solidFill>
                <a:latin typeface="Arial"/>
              </a:rPr>
              <a:t>Nodes + edges + labels + rules  →  a directed graph you can stress-test.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2026-07-28T17:04:19Z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