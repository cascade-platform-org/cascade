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72DFDE-E6D7-4F38-B40C-0D34A321F2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F632E0-DA05-4404-ACF1-91A3B8B851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5E2140A-01B5-4D30-BE05-C052A657DB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D77AF14-F9BF-46F9-AC13-11C9296F8C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F3E0D89-E587-4FB7-BCED-A237131A19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175D5FB-1C77-4B44-B835-1FE258205E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D5F8254-882D-405B-A49B-1B16200EFC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D6AF9EC-8164-4153-8C65-E56E9886DF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607AD65-C786-4C7C-97FA-2F17CFCDCA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78190D3-E699-4C60-BEE0-923F4E492B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563D0D6-98A6-4609-9F54-D367FD9827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06DD7D-2E1B-4774-B2A7-39BA2095AB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F9A537-D7C2-4DF2-BCA7-984F2A85B5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755059-56F0-438E-B366-262C04B496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669623-0235-4316-BD56-1070E0AD89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9359EB-7D1A-481F-95D1-62F2A347A9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7D4F04-405B-4D66-9F35-A44415D4C9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02C30A-36FF-471A-8570-9BDC9AF9A7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1F7C3E-78A1-4485-977E-BB85901963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59A095-152F-4319-9CA9-4368092E89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A1697B-55B2-4E08-B39C-C9B9582BAA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D1581C-BDD9-4C08-AE15-BC7476D55D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1"/>
          <p:cNvSpPr/>
          <p:nvPr/>
        </p:nvSpPr>
        <p:spPr>
          <a:xfrm>
            <a:off x="228600" y="637200"/>
            <a:ext cx="4343400" cy="571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7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2063520" y="719640"/>
            <a:ext cx="612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20" spc="-1" strike="noStrike">
                <a:solidFill>
                  <a:srgbClr val="1f2937"/>
                </a:solidFill>
                <a:latin typeface="Arial"/>
              </a:rPr>
              <a:t>INPUT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362960" y="975600"/>
            <a:ext cx="206604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30" spc="-1" strike="noStrike">
                <a:solidFill>
                  <a:srgbClr val="6b7280"/>
                </a:solidFill>
                <a:latin typeface="Arial"/>
              </a:rPr>
              <a:t>knowledge-based model + scenario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" name="Connector 5"/>
          <p:cNvCxnSpPr>
            <a:stCxn id="71" idx="1"/>
          </p:cNvCxnSpPr>
          <p:nvPr/>
        </p:nvCxnSpPr>
        <p:spPr>
          <a:xfrm flipH="1">
            <a:off x="1616040" y="2740680"/>
            <a:ext cx="714240" cy="59112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72" name="Connector 6"/>
          <p:cNvCxnSpPr/>
          <p:nvPr/>
        </p:nvCxnSpPr>
        <p:spPr>
          <a:xfrm>
            <a:off x="1635840" y="3480120"/>
            <a:ext cx="637920" cy="36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73" name="Connector 7"/>
          <p:cNvCxnSpPr/>
          <p:nvPr/>
        </p:nvCxnSpPr>
        <p:spPr>
          <a:xfrm flipV="1">
            <a:off x="2634840" y="3046320"/>
            <a:ext cx="745920" cy="36036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74" name="Connector 8"/>
          <p:cNvCxnSpPr/>
          <p:nvPr/>
        </p:nvCxnSpPr>
        <p:spPr>
          <a:xfrm>
            <a:off x="2630880" y="3560400"/>
            <a:ext cx="754920" cy="41472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75" name="Connector 9"/>
          <p:cNvCxnSpPr/>
          <p:nvPr/>
        </p:nvCxnSpPr>
        <p:spPr>
          <a:xfrm>
            <a:off x="2483640" y="3648240"/>
            <a:ext cx="360" cy="42768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76" name="Connector 10"/>
          <p:cNvCxnSpPr/>
          <p:nvPr/>
        </p:nvCxnSpPr>
        <p:spPr>
          <a:xfrm flipV="1">
            <a:off x="2648880" y="4115520"/>
            <a:ext cx="714240" cy="13824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77" name="Connector 11"/>
          <p:cNvCxnSpPr/>
          <p:nvPr/>
        </p:nvCxnSpPr>
        <p:spPr>
          <a:xfrm flipV="1">
            <a:off x="2590200" y="3116880"/>
            <a:ext cx="846720" cy="103896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sp>
        <p:nvSpPr>
          <p:cNvPr id="78" name="Rounded Rectangle 12"/>
          <p:cNvSpPr/>
          <p:nvPr/>
        </p:nvSpPr>
        <p:spPr>
          <a:xfrm>
            <a:off x="2244240" y="2562120"/>
            <a:ext cx="293760" cy="29376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Freeform 13"/>
          <p:cNvSpPr/>
          <p:nvPr/>
        </p:nvSpPr>
        <p:spPr>
          <a:xfrm>
            <a:off x="2329920" y="2725200"/>
            <a:ext cx="73080" cy="31320"/>
          </a:xfrm>
          <a:custGeom>
            <a:avLst/>
            <a:gdLst>
              <a:gd name="textAreaLeft" fmla="*/ 0 w 73080"/>
              <a:gd name="textAreaRight" fmla="*/ 73440 w 7308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73570" h="31530">
                <a:moveTo>
                  <a:pt x="73570" y="31530"/>
                </a:moveTo>
                <a:lnTo>
                  <a:pt x="73570" y="21020"/>
                </a:lnTo>
                <a:lnTo>
                  <a:pt x="73043" y="16342"/>
                </a:lnTo>
                <a:lnTo>
                  <a:pt x="71489" y="11899"/>
                </a:lnTo>
                <a:lnTo>
                  <a:pt x="68984" y="7914"/>
                </a:lnTo>
                <a:lnTo>
                  <a:pt x="65656" y="4585"/>
                </a:lnTo>
                <a:lnTo>
                  <a:pt x="61671" y="2081"/>
                </a:lnTo>
                <a:lnTo>
                  <a:pt x="57228" y="527"/>
                </a:lnTo>
                <a:lnTo>
                  <a:pt x="52550" y="0"/>
                </a:lnTo>
                <a:lnTo>
                  <a:pt x="21020" y="0"/>
                </a:lnTo>
                <a:lnTo>
                  <a:pt x="16343" y="527"/>
                </a:lnTo>
                <a:lnTo>
                  <a:pt x="11900" y="2081"/>
                </a:lnTo>
                <a:lnTo>
                  <a:pt x="7914" y="4585"/>
                </a:lnTo>
                <a:lnTo>
                  <a:pt x="4586" y="7914"/>
                </a:lnTo>
                <a:lnTo>
                  <a:pt x="2081" y="11899"/>
                </a:lnTo>
                <a:lnTo>
                  <a:pt x="527" y="16342"/>
                </a:lnTo>
                <a:lnTo>
                  <a:pt x="0" y="21020"/>
                </a:lnTo>
                <a:lnTo>
                  <a:pt x="0" y="31530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3320" bIns="-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Freeform 14"/>
          <p:cNvSpPr/>
          <p:nvPr/>
        </p:nvSpPr>
        <p:spPr>
          <a:xfrm>
            <a:off x="2403720" y="2662920"/>
            <a:ext cx="15120" cy="40320"/>
          </a:xfrm>
          <a:custGeom>
            <a:avLst/>
            <a:gdLst>
              <a:gd name="textAreaLeft" fmla="*/ 0 w 15120"/>
              <a:gd name="textAreaRight" fmla="*/ 15480 w 15120"/>
              <a:gd name="textAreaTop" fmla="*/ 0 h 40320"/>
              <a:gd name="textAreaBottom" fmla="*/ 40680 h 40320"/>
            </a:gdLst>
            <a:ahLst/>
            <a:rect l="textAreaLeft" t="textAreaTop" r="textAreaRight" b="textAreaBottom"/>
            <a:pathLst>
              <a:path w="15595" h="40695">
                <a:moveTo>
                  <a:pt x="0" y="0"/>
                </a:moveTo>
                <a:lnTo>
                  <a:pt x="4676" y="1832"/>
                </a:lnTo>
                <a:lnTo>
                  <a:pt x="8784" y="4720"/>
                </a:lnTo>
                <a:lnTo>
                  <a:pt x="12090" y="8501"/>
                </a:lnTo>
                <a:lnTo>
                  <a:pt x="14404" y="12958"/>
                </a:lnTo>
                <a:lnTo>
                  <a:pt x="15595" y="17836"/>
                </a:lnTo>
                <a:lnTo>
                  <a:pt x="15595" y="22858"/>
                </a:lnTo>
                <a:lnTo>
                  <a:pt x="14404" y="27737"/>
                </a:lnTo>
                <a:lnTo>
                  <a:pt x="12090" y="32193"/>
                </a:lnTo>
                <a:lnTo>
                  <a:pt x="8784" y="35974"/>
                </a:lnTo>
                <a:lnTo>
                  <a:pt x="4676" y="38863"/>
                </a:lnTo>
                <a:lnTo>
                  <a:pt x="0" y="40695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320" bIns="-4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Freeform 15"/>
          <p:cNvSpPr/>
          <p:nvPr/>
        </p:nvSpPr>
        <p:spPr>
          <a:xfrm>
            <a:off x="2419200" y="2725920"/>
            <a:ext cx="15480" cy="30600"/>
          </a:xfrm>
          <a:custGeom>
            <a:avLst/>
            <a:gdLst>
              <a:gd name="textAreaLeft" fmla="*/ 0 w 15480"/>
              <a:gd name="textAreaRight" fmla="*/ 15840 w 15480"/>
              <a:gd name="textAreaTop" fmla="*/ 0 h 30600"/>
              <a:gd name="textAreaBottom" fmla="*/ 30960 h 30600"/>
            </a:gdLst>
            <a:ahLst/>
            <a:rect l="textAreaLeft" t="textAreaTop" r="textAreaRight" b="textAreaBottom"/>
            <a:pathLst>
              <a:path w="15765" h="30847">
                <a:moveTo>
                  <a:pt x="15765" y="30847"/>
                </a:moveTo>
                <a:lnTo>
                  <a:pt x="15765" y="20337"/>
                </a:lnTo>
                <a:lnTo>
                  <a:pt x="15257" y="15759"/>
                </a:lnTo>
                <a:lnTo>
                  <a:pt x="13764" y="11402"/>
                </a:lnTo>
                <a:lnTo>
                  <a:pt x="11358" y="7474"/>
                </a:lnTo>
                <a:lnTo>
                  <a:pt x="8154" y="4165"/>
                </a:lnTo>
                <a:lnTo>
                  <a:pt x="4306" y="163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4040" bIns="-14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Oval 16"/>
          <p:cNvSpPr/>
          <p:nvPr/>
        </p:nvSpPr>
        <p:spPr>
          <a:xfrm>
            <a:off x="2338560" y="2655000"/>
            <a:ext cx="55800" cy="55800"/>
          </a:xfrm>
          <a:prstGeom prst="ellipse">
            <a:avLst/>
          </a:pr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2172960" y="2900160"/>
            <a:ext cx="41868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Operator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Freeform 18"/>
          <p:cNvSpPr/>
          <p:nvPr/>
        </p:nvSpPr>
        <p:spPr>
          <a:xfrm>
            <a:off x="1313640" y="332604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154148" y="0"/>
                </a:moveTo>
                <a:lnTo>
                  <a:pt x="308296" y="154148"/>
                </a:lnTo>
                <a:lnTo>
                  <a:pt x="154148" y="308296"/>
                </a:lnTo>
                <a:lnTo>
                  <a:pt x="0" y="154148"/>
                </a:lnTo>
                <a:close/>
              </a:path>
            </a:pathLst>
          </a:custGeom>
          <a:solidFill>
            <a:srgbClr val="ef4444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Freeform 19"/>
          <p:cNvSpPr/>
          <p:nvPr/>
        </p:nvSpPr>
        <p:spPr>
          <a:xfrm>
            <a:off x="1443240" y="3326040"/>
            <a:ext cx="61200" cy="307800"/>
          </a:xfrm>
          <a:custGeom>
            <a:avLst/>
            <a:gdLst>
              <a:gd name="textAreaLeft" fmla="*/ 0 w 61200"/>
              <a:gd name="textAreaRight" fmla="*/ 61560 w 612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61659" h="308296">
                <a:moveTo>
                  <a:pt x="12332" y="0"/>
                </a:moveTo>
                <a:lnTo>
                  <a:pt x="55493" y="55493"/>
                </a:lnTo>
                <a:lnTo>
                  <a:pt x="6166" y="80157"/>
                </a:lnTo>
                <a:lnTo>
                  <a:pt x="61659" y="147982"/>
                </a:lnTo>
                <a:lnTo>
                  <a:pt x="0" y="172645"/>
                </a:lnTo>
                <a:lnTo>
                  <a:pt x="49328" y="231222"/>
                </a:lnTo>
                <a:lnTo>
                  <a:pt x="12332" y="252802"/>
                </a:lnTo>
                <a:lnTo>
                  <a:pt x="43162" y="308296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Freeform 20"/>
          <p:cNvSpPr/>
          <p:nvPr/>
        </p:nvSpPr>
        <p:spPr>
          <a:xfrm>
            <a:off x="1504800" y="3474000"/>
            <a:ext cx="42840" cy="73800"/>
          </a:xfrm>
          <a:custGeom>
            <a:avLst/>
            <a:gdLst>
              <a:gd name="textAreaLeft" fmla="*/ 0 w 42840"/>
              <a:gd name="textAreaRight" fmla="*/ 43200 w 42840"/>
              <a:gd name="textAreaTop" fmla="*/ 0 h 73800"/>
              <a:gd name="textAreaBottom" fmla="*/ 74160 h 73800"/>
            </a:gdLst>
            <a:ahLst/>
            <a:rect l="textAreaLeft" t="textAreaTop" r="textAreaRight" b="textAreaBottom"/>
            <a:pathLst>
              <a:path w="43162" h="73991">
                <a:moveTo>
                  <a:pt x="0" y="0"/>
                </a:moveTo>
                <a:lnTo>
                  <a:pt x="43162" y="43161"/>
                </a:lnTo>
                <a:lnTo>
                  <a:pt x="18498" y="73991"/>
                </a:lnTo>
              </a:path>
            </a:pathLst>
          </a:custGeom>
          <a:noFill/>
          <a:ln w="228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Freeform 21"/>
          <p:cNvSpPr/>
          <p:nvPr/>
        </p:nvSpPr>
        <p:spPr>
          <a:xfrm>
            <a:off x="1443240" y="3326040"/>
            <a:ext cx="61200" cy="307800"/>
          </a:xfrm>
          <a:custGeom>
            <a:avLst/>
            <a:gdLst>
              <a:gd name="textAreaLeft" fmla="*/ 0 w 61200"/>
              <a:gd name="textAreaRight" fmla="*/ 61560 w 612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61659" h="308296">
                <a:moveTo>
                  <a:pt x="12332" y="0"/>
                </a:moveTo>
                <a:lnTo>
                  <a:pt x="55493" y="55493"/>
                </a:lnTo>
                <a:lnTo>
                  <a:pt x="6166" y="80157"/>
                </a:lnTo>
                <a:lnTo>
                  <a:pt x="61659" y="147982"/>
                </a:lnTo>
                <a:lnTo>
                  <a:pt x="0" y="172645"/>
                </a:lnTo>
                <a:lnTo>
                  <a:pt x="49328" y="231222"/>
                </a:lnTo>
                <a:lnTo>
                  <a:pt x="12332" y="252802"/>
                </a:lnTo>
                <a:lnTo>
                  <a:pt x="43162" y="308296"/>
                </a:lnTo>
              </a:path>
            </a:pathLst>
          </a:custGeom>
          <a:noFill/>
          <a:ln w="16192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Freeform 22"/>
          <p:cNvSpPr/>
          <p:nvPr/>
        </p:nvSpPr>
        <p:spPr>
          <a:xfrm>
            <a:off x="1504800" y="3474000"/>
            <a:ext cx="42840" cy="73800"/>
          </a:xfrm>
          <a:custGeom>
            <a:avLst/>
            <a:gdLst>
              <a:gd name="textAreaLeft" fmla="*/ 0 w 42840"/>
              <a:gd name="textAreaRight" fmla="*/ 43200 w 42840"/>
              <a:gd name="textAreaTop" fmla="*/ 0 h 73800"/>
              <a:gd name="textAreaBottom" fmla="*/ 74160 h 73800"/>
            </a:gdLst>
            <a:ahLst/>
            <a:rect l="textAreaLeft" t="textAreaTop" r="textAreaRight" b="textAreaBottom"/>
            <a:pathLst>
              <a:path w="43162" h="73991">
                <a:moveTo>
                  <a:pt x="0" y="0"/>
                </a:moveTo>
                <a:lnTo>
                  <a:pt x="43162" y="43161"/>
                </a:lnTo>
                <a:lnTo>
                  <a:pt x="18498" y="73991"/>
                </a:lnTo>
              </a:path>
            </a:pathLst>
          </a:custGeom>
          <a:noFill/>
          <a:ln w="10477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Freeform 23"/>
          <p:cNvSpPr/>
          <p:nvPr/>
        </p:nvSpPr>
        <p:spPr>
          <a:xfrm>
            <a:off x="1420560" y="3427560"/>
            <a:ext cx="94320" cy="104760"/>
          </a:xfrm>
          <a:custGeom>
            <a:avLst/>
            <a:gdLst>
              <a:gd name="textAreaLeft" fmla="*/ 0 w 94320"/>
              <a:gd name="textAreaRight" fmla="*/ 94680 w 94320"/>
              <a:gd name="textAreaTop" fmla="*/ 0 h 104760"/>
              <a:gd name="textAreaBottom" fmla="*/ 105120 h 104760"/>
            </a:gdLst>
            <a:ahLst/>
            <a:rect l="textAreaLeft" t="textAreaTop" r="textAreaRight" b="textAreaBottom"/>
            <a:pathLst>
              <a:path w="94554" h="105041">
                <a:moveTo>
                  <a:pt x="5237" y="63031"/>
                </a:moveTo>
                <a:lnTo>
                  <a:pt x="2425" y="62227"/>
                </a:lnTo>
                <a:lnTo>
                  <a:pt x="478" y="60044"/>
                </a:lnTo>
                <a:lnTo>
                  <a:pt x="0" y="57159"/>
                </a:lnTo>
                <a:lnTo>
                  <a:pt x="1138" y="54465"/>
                </a:lnTo>
                <a:lnTo>
                  <a:pt x="53163" y="864"/>
                </a:lnTo>
                <a:lnTo>
                  <a:pt x="54671" y="0"/>
                </a:lnTo>
                <a:lnTo>
                  <a:pt x="56388" y="267"/>
                </a:lnTo>
                <a:lnTo>
                  <a:pt x="57563" y="1547"/>
                </a:lnTo>
                <a:lnTo>
                  <a:pt x="57682" y="3281"/>
                </a:lnTo>
                <a:moveTo>
                  <a:pt x="57682" y="3281"/>
                </a:moveTo>
                <a:lnTo>
                  <a:pt x="47592" y="34916"/>
                </a:lnTo>
                <a:lnTo>
                  <a:pt x="47301" y="37413"/>
                </a:lnTo>
                <a:lnTo>
                  <a:pt x="48202" y="39758"/>
                </a:lnTo>
                <a:lnTo>
                  <a:pt x="50090" y="41418"/>
                </a:lnTo>
                <a:lnTo>
                  <a:pt x="52532" y="42011"/>
                </a:lnTo>
                <a:moveTo>
                  <a:pt x="52532" y="42011"/>
                </a:moveTo>
                <a:lnTo>
                  <a:pt x="89317" y="42011"/>
                </a:lnTo>
                <a:lnTo>
                  <a:pt x="92129" y="42815"/>
                </a:lnTo>
                <a:lnTo>
                  <a:pt x="94075" y="44997"/>
                </a:lnTo>
                <a:lnTo>
                  <a:pt x="94554" y="47882"/>
                </a:lnTo>
                <a:lnTo>
                  <a:pt x="93416" y="50576"/>
                </a:lnTo>
                <a:lnTo>
                  <a:pt x="41391" y="104178"/>
                </a:lnTo>
                <a:lnTo>
                  <a:pt x="39883" y="105041"/>
                </a:lnTo>
                <a:lnTo>
                  <a:pt x="38166" y="104774"/>
                </a:lnTo>
                <a:lnTo>
                  <a:pt x="36991" y="103494"/>
                </a:lnTo>
                <a:lnTo>
                  <a:pt x="36872" y="101760"/>
                </a:lnTo>
                <a:lnTo>
                  <a:pt x="46962" y="70125"/>
                </a:lnTo>
                <a:lnTo>
                  <a:pt x="47253" y="67629"/>
                </a:lnTo>
                <a:lnTo>
                  <a:pt x="46352" y="65283"/>
                </a:lnTo>
                <a:lnTo>
                  <a:pt x="44464" y="63624"/>
                </a:lnTo>
                <a:lnTo>
                  <a:pt x="42022" y="63031"/>
                </a:lnTo>
                <a:lnTo>
                  <a:pt x="5237" y="63031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4"/>
          <p:cNvSpPr/>
          <p:nvPr/>
        </p:nvSpPr>
        <p:spPr>
          <a:xfrm>
            <a:off x="1109520" y="3670920"/>
            <a:ext cx="71568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Electric Source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Freeform 25"/>
          <p:cNvSpPr/>
          <p:nvPr/>
        </p:nvSpPr>
        <p:spPr>
          <a:xfrm>
            <a:off x="2329560" y="332604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5" h="308296">
                <a:moveTo>
                  <a:pt x="61659" y="0"/>
                </a:moveTo>
                <a:lnTo>
                  <a:pt x="246636" y="0"/>
                </a:lnTo>
                <a:lnTo>
                  <a:pt x="308295" y="61659"/>
                </a:lnTo>
                <a:lnTo>
                  <a:pt x="308295" y="246636"/>
                </a:lnTo>
                <a:lnTo>
                  <a:pt x="246636" y="308296"/>
                </a:lnTo>
                <a:lnTo>
                  <a:pt x="61659" y="308296"/>
                </a:lnTo>
                <a:lnTo>
                  <a:pt x="0" y="246636"/>
                </a:lnTo>
                <a:lnTo>
                  <a:pt x="0" y="61659"/>
                </a:lnTo>
                <a:close/>
              </a:path>
            </a:pathLst>
          </a:custGeom>
          <a:solidFill>
            <a:srgbClr val="22c55e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Freeform 26"/>
          <p:cNvSpPr/>
          <p:nvPr/>
        </p:nvSpPr>
        <p:spPr>
          <a:xfrm>
            <a:off x="2436480" y="3427560"/>
            <a:ext cx="94320" cy="104760"/>
          </a:xfrm>
          <a:custGeom>
            <a:avLst/>
            <a:gdLst>
              <a:gd name="textAreaLeft" fmla="*/ 0 w 94320"/>
              <a:gd name="textAreaRight" fmla="*/ 94680 w 94320"/>
              <a:gd name="textAreaTop" fmla="*/ 0 h 104760"/>
              <a:gd name="textAreaBottom" fmla="*/ 105120 h 104760"/>
            </a:gdLst>
            <a:ahLst/>
            <a:rect l="textAreaLeft" t="textAreaTop" r="textAreaRight" b="textAreaBottom"/>
            <a:pathLst>
              <a:path w="94554" h="105041">
                <a:moveTo>
                  <a:pt x="5237" y="63031"/>
                </a:moveTo>
                <a:lnTo>
                  <a:pt x="2425" y="62227"/>
                </a:lnTo>
                <a:lnTo>
                  <a:pt x="479" y="60044"/>
                </a:lnTo>
                <a:lnTo>
                  <a:pt x="0" y="57159"/>
                </a:lnTo>
                <a:lnTo>
                  <a:pt x="1138" y="54465"/>
                </a:lnTo>
                <a:lnTo>
                  <a:pt x="53163" y="864"/>
                </a:lnTo>
                <a:lnTo>
                  <a:pt x="54671" y="0"/>
                </a:lnTo>
                <a:lnTo>
                  <a:pt x="56388" y="267"/>
                </a:lnTo>
                <a:lnTo>
                  <a:pt x="57563" y="1547"/>
                </a:lnTo>
                <a:lnTo>
                  <a:pt x="57682" y="3281"/>
                </a:lnTo>
                <a:moveTo>
                  <a:pt x="57682" y="3281"/>
                </a:moveTo>
                <a:lnTo>
                  <a:pt x="47593" y="34916"/>
                </a:lnTo>
                <a:lnTo>
                  <a:pt x="47302" y="37413"/>
                </a:lnTo>
                <a:lnTo>
                  <a:pt x="48203" y="39758"/>
                </a:lnTo>
                <a:lnTo>
                  <a:pt x="50090" y="41418"/>
                </a:lnTo>
                <a:lnTo>
                  <a:pt x="52533" y="42011"/>
                </a:lnTo>
                <a:moveTo>
                  <a:pt x="52533" y="42011"/>
                </a:moveTo>
                <a:lnTo>
                  <a:pt x="89318" y="42011"/>
                </a:lnTo>
                <a:lnTo>
                  <a:pt x="92129" y="42815"/>
                </a:lnTo>
                <a:lnTo>
                  <a:pt x="94076" y="44997"/>
                </a:lnTo>
                <a:lnTo>
                  <a:pt x="94554" y="47882"/>
                </a:lnTo>
                <a:lnTo>
                  <a:pt x="93417" y="50576"/>
                </a:lnTo>
                <a:lnTo>
                  <a:pt x="41392" y="104178"/>
                </a:lnTo>
                <a:lnTo>
                  <a:pt x="39884" y="105041"/>
                </a:lnTo>
                <a:lnTo>
                  <a:pt x="38167" y="104774"/>
                </a:lnTo>
                <a:lnTo>
                  <a:pt x="36992" y="103494"/>
                </a:lnTo>
                <a:lnTo>
                  <a:pt x="36872" y="101760"/>
                </a:lnTo>
                <a:lnTo>
                  <a:pt x="46962" y="70125"/>
                </a:lnTo>
                <a:lnTo>
                  <a:pt x="47253" y="67629"/>
                </a:lnTo>
                <a:lnTo>
                  <a:pt x="46352" y="65283"/>
                </a:lnTo>
                <a:lnTo>
                  <a:pt x="44465" y="63624"/>
                </a:lnTo>
                <a:lnTo>
                  <a:pt x="42022" y="63031"/>
                </a:lnTo>
                <a:lnTo>
                  <a:pt x="5237" y="63031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7"/>
          <p:cNvSpPr/>
          <p:nvPr/>
        </p:nvSpPr>
        <p:spPr>
          <a:xfrm>
            <a:off x="2232360" y="3670920"/>
            <a:ext cx="50256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Substation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Freeform 28"/>
          <p:cNvSpPr/>
          <p:nvPr/>
        </p:nvSpPr>
        <p:spPr>
          <a:xfrm>
            <a:off x="2329560" y="413172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5" h="308296">
                <a:moveTo>
                  <a:pt x="61659" y="0"/>
                </a:moveTo>
                <a:lnTo>
                  <a:pt x="246636" y="0"/>
                </a:lnTo>
                <a:lnTo>
                  <a:pt x="308295" y="61659"/>
                </a:lnTo>
                <a:lnTo>
                  <a:pt x="308295" y="246636"/>
                </a:lnTo>
                <a:lnTo>
                  <a:pt x="246636" y="308296"/>
                </a:lnTo>
                <a:lnTo>
                  <a:pt x="61659" y="308296"/>
                </a:lnTo>
                <a:lnTo>
                  <a:pt x="0" y="246636"/>
                </a:lnTo>
                <a:lnTo>
                  <a:pt x="0" y="61659"/>
                </a:lnTo>
                <a:close/>
              </a:path>
            </a:pathLst>
          </a:custGeom>
          <a:solidFill>
            <a:srgbClr val="22c55e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Freeform 29"/>
          <p:cNvSpPr/>
          <p:nvPr/>
        </p:nvSpPr>
        <p:spPr>
          <a:xfrm>
            <a:off x="2446920" y="4238640"/>
            <a:ext cx="73080" cy="99360"/>
          </a:xfrm>
          <a:custGeom>
            <a:avLst/>
            <a:gdLst>
              <a:gd name="textAreaLeft" fmla="*/ 0 w 73080"/>
              <a:gd name="textAreaRight" fmla="*/ 73440 w 73080"/>
              <a:gd name="textAreaTop" fmla="*/ 0 h 99360"/>
              <a:gd name="textAreaBottom" fmla="*/ 99720 h 99360"/>
            </a:gdLst>
            <a:ahLst/>
            <a:rect l="textAreaLeft" t="textAreaTop" r="textAreaRight" b="textAreaBottom"/>
            <a:pathLst>
              <a:path w="73571" h="99846">
                <a:moveTo>
                  <a:pt x="36785" y="99846"/>
                </a:moveTo>
                <a:lnTo>
                  <a:pt x="42021" y="99472"/>
                </a:lnTo>
                <a:lnTo>
                  <a:pt x="47149" y="98356"/>
                </a:lnTo>
                <a:lnTo>
                  <a:pt x="52067" y="96522"/>
                </a:lnTo>
                <a:lnTo>
                  <a:pt x="56673" y="94007"/>
                </a:lnTo>
                <a:lnTo>
                  <a:pt x="60875" y="90861"/>
                </a:lnTo>
                <a:lnTo>
                  <a:pt x="64586" y="87150"/>
                </a:lnTo>
                <a:lnTo>
                  <a:pt x="67731" y="82948"/>
                </a:lnTo>
                <a:lnTo>
                  <a:pt x="70247" y="78342"/>
                </a:lnTo>
                <a:lnTo>
                  <a:pt x="72081" y="73424"/>
                </a:lnTo>
                <a:lnTo>
                  <a:pt x="73196" y="68296"/>
                </a:lnTo>
                <a:lnTo>
                  <a:pt x="73571" y="63061"/>
                </a:lnTo>
                <a:lnTo>
                  <a:pt x="57806" y="34158"/>
                </a:lnTo>
                <a:lnTo>
                  <a:pt x="36785" y="0"/>
                </a:lnTo>
                <a:lnTo>
                  <a:pt x="15765" y="34158"/>
                </a:lnTo>
                <a:lnTo>
                  <a:pt x="0" y="63061"/>
                </a:lnTo>
                <a:lnTo>
                  <a:pt x="375" y="68296"/>
                </a:lnTo>
                <a:lnTo>
                  <a:pt x="1490" y="73424"/>
                </a:lnTo>
                <a:lnTo>
                  <a:pt x="3324" y="78342"/>
                </a:lnTo>
                <a:lnTo>
                  <a:pt x="5840" y="82948"/>
                </a:lnTo>
                <a:lnTo>
                  <a:pt x="8985" y="87150"/>
                </a:lnTo>
                <a:lnTo>
                  <a:pt x="12696" y="90861"/>
                </a:lnTo>
                <a:lnTo>
                  <a:pt x="16898" y="94007"/>
                </a:lnTo>
                <a:lnTo>
                  <a:pt x="21504" y="96522"/>
                </a:lnTo>
                <a:lnTo>
                  <a:pt x="26422" y="98356"/>
                </a:lnTo>
                <a:lnTo>
                  <a:pt x="31550" y="99472"/>
                </a:lnTo>
                <a:lnTo>
                  <a:pt x="36785" y="99846"/>
                </a:lnTo>
                <a:close/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30"/>
          <p:cNvSpPr/>
          <p:nvPr/>
        </p:nvSpPr>
        <p:spPr>
          <a:xfrm>
            <a:off x="2190240" y="4476600"/>
            <a:ext cx="58644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Water Pump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val 31"/>
          <p:cNvSpPr/>
          <p:nvPr/>
        </p:nvSpPr>
        <p:spPr>
          <a:xfrm>
            <a:off x="3422520" y="2807640"/>
            <a:ext cx="293760" cy="29376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Freeform 32"/>
          <p:cNvSpPr/>
          <p:nvPr/>
        </p:nvSpPr>
        <p:spPr>
          <a:xfrm>
            <a:off x="3476880" y="2913840"/>
            <a:ext cx="73080" cy="81360"/>
          </a:xfrm>
          <a:custGeom>
            <a:avLst/>
            <a:gdLst>
              <a:gd name="textAreaLeft" fmla="*/ 0 w 73080"/>
              <a:gd name="textAreaRight" fmla="*/ 73440 w 73080"/>
              <a:gd name="textAreaTop" fmla="*/ 0 h 81360"/>
              <a:gd name="textAreaBottom" fmla="*/ 81720 h 81360"/>
            </a:gdLst>
            <a:ahLst/>
            <a:rect l="textAreaLeft" t="textAreaTop" r="textAreaRight" b="textAreaBottom"/>
            <a:pathLst>
              <a:path w="73541" h="81698">
                <a:moveTo>
                  <a:pt x="4072" y="49023"/>
                </a:moveTo>
                <a:lnTo>
                  <a:pt x="1886" y="48398"/>
                </a:lnTo>
                <a:lnTo>
                  <a:pt x="372" y="46700"/>
                </a:lnTo>
                <a:lnTo>
                  <a:pt x="0" y="44456"/>
                </a:lnTo>
                <a:lnTo>
                  <a:pt x="884" y="42361"/>
                </a:lnTo>
                <a:lnTo>
                  <a:pt x="41348" y="671"/>
                </a:lnTo>
                <a:lnTo>
                  <a:pt x="42521" y="0"/>
                </a:lnTo>
                <a:lnTo>
                  <a:pt x="43857" y="207"/>
                </a:lnTo>
                <a:lnTo>
                  <a:pt x="44771" y="1203"/>
                </a:lnTo>
                <a:lnTo>
                  <a:pt x="44863" y="2551"/>
                </a:lnTo>
                <a:moveTo>
                  <a:pt x="44863" y="2551"/>
                </a:moveTo>
                <a:lnTo>
                  <a:pt x="37016" y="27156"/>
                </a:lnTo>
                <a:lnTo>
                  <a:pt x="36789" y="29098"/>
                </a:lnTo>
                <a:lnTo>
                  <a:pt x="37490" y="30922"/>
                </a:lnTo>
                <a:lnTo>
                  <a:pt x="38958" y="32213"/>
                </a:lnTo>
                <a:lnTo>
                  <a:pt x="40858" y="32674"/>
                </a:lnTo>
                <a:moveTo>
                  <a:pt x="40858" y="32674"/>
                </a:moveTo>
                <a:lnTo>
                  <a:pt x="69469" y="32674"/>
                </a:lnTo>
                <a:lnTo>
                  <a:pt x="71655" y="33300"/>
                </a:lnTo>
                <a:lnTo>
                  <a:pt x="73169" y="34997"/>
                </a:lnTo>
                <a:lnTo>
                  <a:pt x="73541" y="37241"/>
                </a:lnTo>
                <a:lnTo>
                  <a:pt x="72657" y="39336"/>
                </a:lnTo>
                <a:lnTo>
                  <a:pt x="32193" y="81026"/>
                </a:lnTo>
                <a:lnTo>
                  <a:pt x="31020" y="81698"/>
                </a:lnTo>
                <a:lnTo>
                  <a:pt x="29684" y="81490"/>
                </a:lnTo>
                <a:lnTo>
                  <a:pt x="28770" y="80495"/>
                </a:lnTo>
                <a:lnTo>
                  <a:pt x="28678" y="79146"/>
                </a:lnTo>
                <a:lnTo>
                  <a:pt x="36525" y="54541"/>
                </a:lnTo>
                <a:lnTo>
                  <a:pt x="36752" y="52599"/>
                </a:lnTo>
                <a:lnTo>
                  <a:pt x="36051" y="50775"/>
                </a:lnTo>
                <a:lnTo>
                  <a:pt x="34583" y="49484"/>
                </a:lnTo>
                <a:lnTo>
                  <a:pt x="32683" y="49023"/>
                </a:lnTo>
                <a:lnTo>
                  <a:pt x="4072" y="49023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Freeform 33"/>
          <p:cNvSpPr/>
          <p:nvPr/>
        </p:nvSpPr>
        <p:spPr>
          <a:xfrm>
            <a:off x="3597120" y="2917800"/>
            <a:ext cx="56880" cy="77400"/>
          </a:xfrm>
          <a:custGeom>
            <a:avLst/>
            <a:gdLst>
              <a:gd name="textAreaLeft" fmla="*/ 0 w 56880"/>
              <a:gd name="textAreaRight" fmla="*/ 57240 w 56880"/>
              <a:gd name="textAreaTop" fmla="*/ 0 h 77400"/>
              <a:gd name="textAreaBottom" fmla="*/ 77760 h 77400"/>
            </a:gdLst>
            <a:ahLst/>
            <a:rect l="textAreaLeft" t="textAreaTop" r="textAreaRight" b="textAreaBottom"/>
            <a:pathLst>
              <a:path w="57222" h="77658">
                <a:moveTo>
                  <a:pt x="28611" y="77658"/>
                </a:moveTo>
                <a:lnTo>
                  <a:pt x="32683" y="77367"/>
                </a:lnTo>
                <a:lnTo>
                  <a:pt x="36672" y="76499"/>
                </a:lnTo>
                <a:lnTo>
                  <a:pt x="40496" y="75073"/>
                </a:lnTo>
                <a:lnTo>
                  <a:pt x="44079" y="73116"/>
                </a:lnTo>
                <a:lnTo>
                  <a:pt x="47347" y="70670"/>
                </a:lnTo>
                <a:lnTo>
                  <a:pt x="50234" y="67783"/>
                </a:lnTo>
                <a:lnTo>
                  <a:pt x="52680" y="64516"/>
                </a:lnTo>
                <a:lnTo>
                  <a:pt x="54636" y="60933"/>
                </a:lnTo>
                <a:lnTo>
                  <a:pt x="56063" y="57108"/>
                </a:lnTo>
                <a:lnTo>
                  <a:pt x="56931" y="53119"/>
                </a:lnTo>
                <a:lnTo>
                  <a:pt x="57222" y="49047"/>
                </a:lnTo>
                <a:lnTo>
                  <a:pt x="44960" y="26568"/>
                </a:lnTo>
                <a:lnTo>
                  <a:pt x="28611" y="0"/>
                </a:lnTo>
                <a:lnTo>
                  <a:pt x="12262" y="26568"/>
                </a:lnTo>
                <a:lnTo>
                  <a:pt x="0" y="49047"/>
                </a:lnTo>
                <a:lnTo>
                  <a:pt x="291" y="53119"/>
                </a:lnTo>
                <a:lnTo>
                  <a:pt x="1159" y="57108"/>
                </a:lnTo>
                <a:lnTo>
                  <a:pt x="2586" y="60933"/>
                </a:lnTo>
                <a:lnTo>
                  <a:pt x="4542" y="64516"/>
                </a:lnTo>
                <a:lnTo>
                  <a:pt x="6988" y="67783"/>
                </a:lnTo>
                <a:lnTo>
                  <a:pt x="9875" y="70670"/>
                </a:lnTo>
                <a:lnTo>
                  <a:pt x="13143" y="73116"/>
                </a:lnTo>
                <a:lnTo>
                  <a:pt x="16726" y="75073"/>
                </a:lnTo>
                <a:lnTo>
                  <a:pt x="20550" y="76499"/>
                </a:lnTo>
                <a:lnTo>
                  <a:pt x="24539" y="77367"/>
                </a:lnTo>
                <a:lnTo>
                  <a:pt x="28611" y="77658"/>
                </a:lnTo>
                <a:close/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34"/>
          <p:cNvSpPr/>
          <p:nvPr/>
        </p:nvSpPr>
        <p:spPr>
          <a:xfrm>
            <a:off x="3376800" y="3145320"/>
            <a:ext cx="38520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Hospital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Oval 35"/>
          <p:cNvSpPr/>
          <p:nvPr/>
        </p:nvSpPr>
        <p:spPr>
          <a:xfrm>
            <a:off x="3422520" y="3928680"/>
            <a:ext cx="293760" cy="29376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Freeform 36"/>
          <p:cNvSpPr/>
          <p:nvPr/>
        </p:nvSpPr>
        <p:spPr>
          <a:xfrm>
            <a:off x="3476880" y="4034880"/>
            <a:ext cx="73080" cy="81360"/>
          </a:xfrm>
          <a:custGeom>
            <a:avLst/>
            <a:gdLst>
              <a:gd name="textAreaLeft" fmla="*/ 0 w 73080"/>
              <a:gd name="textAreaRight" fmla="*/ 73440 w 73080"/>
              <a:gd name="textAreaTop" fmla="*/ 0 h 81360"/>
              <a:gd name="textAreaBottom" fmla="*/ 81720 h 81360"/>
            </a:gdLst>
            <a:ahLst/>
            <a:rect l="textAreaLeft" t="textAreaTop" r="textAreaRight" b="textAreaBottom"/>
            <a:pathLst>
              <a:path w="73541" h="81698">
                <a:moveTo>
                  <a:pt x="4072" y="49024"/>
                </a:moveTo>
                <a:lnTo>
                  <a:pt x="1886" y="48398"/>
                </a:lnTo>
                <a:lnTo>
                  <a:pt x="372" y="46701"/>
                </a:lnTo>
                <a:lnTo>
                  <a:pt x="0" y="44457"/>
                </a:lnTo>
                <a:lnTo>
                  <a:pt x="884" y="42361"/>
                </a:lnTo>
                <a:lnTo>
                  <a:pt x="41348" y="671"/>
                </a:lnTo>
                <a:lnTo>
                  <a:pt x="42521" y="0"/>
                </a:lnTo>
                <a:lnTo>
                  <a:pt x="43857" y="207"/>
                </a:lnTo>
                <a:lnTo>
                  <a:pt x="44771" y="1203"/>
                </a:lnTo>
                <a:lnTo>
                  <a:pt x="44863" y="2551"/>
                </a:lnTo>
                <a:moveTo>
                  <a:pt x="44863" y="2551"/>
                </a:moveTo>
                <a:lnTo>
                  <a:pt x="37016" y="27157"/>
                </a:lnTo>
                <a:lnTo>
                  <a:pt x="36789" y="29098"/>
                </a:lnTo>
                <a:lnTo>
                  <a:pt x="37490" y="30923"/>
                </a:lnTo>
                <a:lnTo>
                  <a:pt x="38958" y="32213"/>
                </a:lnTo>
                <a:lnTo>
                  <a:pt x="40858" y="32675"/>
                </a:lnTo>
                <a:moveTo>
                  <a:pt x="40858" y="32675"/>
                </a:moveTo>
                <a:lnTo>
                  <a:pt x="69469" y="32675"/>
                </a:lnTo>
                <a:lnTo>
                  <a:pt x="71655" y="33300"/>
                </a:lnTo>
                <a:lnTo>
                  <a:pt x="73169" y="34998"/>
                </a:lnTo>
                <a:lnTo>
                  <a:pt x="73541" y="37241"/>
                </a:lnTo>
                <a:lnTo>
                  <a:pt x="72657" y="39337"/>
                </a:lnTo>
                <a:lnTo>
                  <a:pt x="32193" y="81027"/>
                </a:lnTo>
                <a:lnTo>
                  <a:pt x="31020" y="81698"/>
                </a:lnTo>
                <a:lnTo>
                  <a:pt x="29684" y="81491"/>
                </a:lnTo>
                <a:lnTo>
                  <a:pt x="28770" y="80495"/>
                </a:lnTo>
                <a:lnTo>
                  <a:pt x="28678" y="79147"/>
                </a:lnTo>
                <a:lnTo>
                  <a:pt x="36525" y="54541"/>
                </a:lnTo>
                <a:lnTo>
                  <a:pt x="36752" y="52600"/>
                </a:lnTo>
                <a:lnTo>
                  <a:pt x="36051" y="50775"/>
                </a:lnTo>
                <a:lnTo>
                  <a:pt x="34583" y="49485"/>
                </a:lnTo>
                <a:lnTo>
                  <a:pt x="32683" y="49024"/>
                </a:lnTo>
                <a:lnTo>
                  <a:pt x="4072" y="49024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Freeform 37"/>
          <p:cNvSpPr/>
          <p:nvPr/>
        </p:nvSpPr>
        <p:spPr>
          <a:xfrm>
            <a:off x="3597120" y="4038840"/>
            <a:ext cx="56880" cy="77400"/>
          </a:xfrm>
          <a:custGeom>
            <a:avLst/>
            <a:gdLst>
              <a:gd name="textAreaLeft" fmla="*/ 0 w 56880"/>
              <a:gd name="textAreaRight" fmla="*/ 57240 w 56880"/>
              <a:gd name="textAreaTop" fmla="*/ 0 h 77400"/>
              <a:gd name="textAreaBottom" fmla="*/ 77760 h 77400"/>
            </a:gdLst>
            <a:ahLst/>
            <a:rect l="textAreaLeft" t="textAreaTop" r="textAreaRight" b="textAreaBottom"/>
            <a:pathLst>
              <a:path w="57222" h="77658">
                <a:moveTo>
                  <a:pt x="28611" y="77658"/>
                </a:moveTo>
                <a:lnTo>
                  <a:pt x="32683" y="77366"/>
                </a:lnTo>
                <a:lnTo>
                  <a:pt x="36672" y="76499"/>
                </a:lnTo>
                <a:lnTo>
                  <a:pt x="40496" y="75072"/>
                </a:lnTo>
                <a:lnTo>
                  <a:pt x="44079" y="73116"/>
                </a:lnTo>
                <a:lnTo>
                  <a:pt x="47347" y="70669"/>
                </a:lnTo>
                <a:lnTo>
                  <a:pt x="50234" y="67783"/>
                </a:lnTo>
                <a:lnTo>
                  <a:pt x="52680" y="64515"/>
                </a:lnTo>
                <a:lnTo>
                  <a:pt x="54636" y="60932"/>
                </a:lnTo>
                <a:lnTo>
                  <a:pt x="56063" y="57107"/>
                </a:lnTo>
                <a:lnTo>
                  <a:pt x="56931" y="53119"/>
                </a:lnTo>
                <a:lnTo>
                  <a:pt x="57222" y="49047"/>
                </a:lnTo>
                <a:lnTo>
                  <a:pt x="44960" y="26567"/>
                </a:lnTo>
                <a:lnTo>
                  <a:pt x="28611" y="0"/>
                </a:lnTo>
                <a:lnTo>
                  <a:pt x="12262" y="26567"/>
                </a:lnTo>
                <a:lnTo>
                  <a:pt x="0" y="49047"/>
                </a:lnTo>
                <a:lnTo>
                  <a:pt x="291" y="53119"/>
                </a:lnTo>
                <a:lnTo>
                  <a:pt x="1159" y="57107"/>
                </a:lnTo>
                <a:lnTo>
                  <a:pt x="2586" y="60932"/>
                </a:lnTo>
                <a:lnTo>
                  <a:pt x="4542" y="64515"/>
                </a:lnTo>
                <a:lnTo>
                  <a:pt x="6988" y="67783"/>
                </a:lnTo>
                <a:lnTo>
                  <a:pt x="9875" y="70669"/>
                </a:lnTo>
                <a:lnTo>
                  <a:pt x="13143" y="73116"/>
                </a:lnTo>
                <a:lnTo>
                  <a:pt x="16726" y="75072"/>
                </a:lnTo>
                <a:lnTo>
                  <a:pt x="20550" y="76499"/>
                </a:lnTo>
                <a:lnTo>
                  <a:pt x="24539" y="77366"/>
                </a:lnTo>
                <a:lnTo>
                  <a:pt x="28611" y="77658"/>
                </a:lnTo>
                <a:close/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38"/>
          <p:cNvSpPr/>
          <p:nvPr/>
        </p:nvSpPr>
        <p:spPr>
          <a:xfrm>
            <a:off x="3476880" y="4266360"/>
            <a:ext cx="18540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City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3"/>
          <p:cNvSpPr/>
          <p:nvPr/>
        </p:nvSpPr>
        <p:spPr>
          <a:xfrm>
            <a:off x="297720" y="2309400"/>
            <a:ext cx="185724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supply_capacity = 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vulnerability[Earthquake]=2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Functionality=critical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direct_damage=True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50"/>
          <p:cNvSpPr/>
          <p:nvPr/>
        </p:nvSpPr>
        <p:spPr>
          <a:xfrm>
            <a:off x="304560" y="3922200"/>
            <a:ext cx="19944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if Electric Source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  <a:ea typeface="Noto Sans CJK SC"/>
              </a:rPr>
              <a:t>is critical </a:t>
            </a: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then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Substation.direct_damage=True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51"/>
          <p:cNvSpPr/>
          <p:nvPr/>
        </p:nvSpPr>
        <p:spPr>
          <a:xfrm>
            <a:off x="777240" y="4001040"/>
            <a:ext cx="1996200" cy="1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55"/>
          <p:cNvSpPr/>
          <p:nvPr/>
        </p:nvSpPr>
        <p:spPr>
          <a:xfrm>
            <a:off x="465480" y="5281200"/>
            <a:ext cx="21330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category_dependency_profiles: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[electric].dependency_level = 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[electric].backup_duration=24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63"/>
          <p:cNvSpPr/>
          <p:nvPr/>
        </p:nvSpPr>
        <p:spPr>
          <a:xfrm>
            <a:off x="2216880" y="1965600"/>
            <a:ext cx="22003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category_dependency_profiles: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[electric].backup_duration = 240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[water].backup_duration = 48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71"/>
          <p:cNvSpPr/>
          <p:nvPr/>
        </p:nvSpPr>
        <p:spPr>
          <a:xfrm>
            <a:off x="2391120" y="4726800"/>
            <a:ext cx="21315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category_dependency_profiles: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[electric].dependency_level =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334155"/>
                </a:solidFill>
                <a:latin typeface="DejaVu Sans Mono, Menlo, monospace"/>
              </a:rPr>
              <a:t>[electric].demand = 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75"/>
          <p:cNvSpPr/>
          <p:nvPr/>
        </p:nvSpPr>
        <p:spPr>
          <a:xfrm>
            <a:off x="5063400" y="2259000"/>
            <a:ext cx="2032200" cy="254160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4287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76"/>
          <p:cNvSpPr/>
          <p:nvPr/>
        </p:nvSpPr>
        <p:spPr>
          <a:xfrm>
            <a:off x="5292000" y="2286360"/>
            <a:ext cx="15631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20" spc="-1" strike="noStrike">
                <a:solidFill>
                  <a:srgbClr val="3730a3"/>
                </a:solidFill>
                <a:latin typeface="Arial"/>
              </a:rPr>
              <a:t>Propagation engine</a:t>
            </a:r>
            <a:endParaRPr b="0" lang="en-US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77"/>
          <p:cNvSpPr/>
          <p:nvPr/>
        </p:nvSpPr>
        <p:spPr>
          <a:xfrm>
            <a:off x="5483520" y="2481840"/>
            <a:ext cx="112284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60" spc="-1" strike="noStrike">
                <a:solidFill>
                  <a:srgbClr val="6366f1"/>
                </a:solidFill>
                <a:latin typeface="Arial"/>
              </a:rPr>
              <a:t>iterated to fixed point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78"/>
          <p:cNvSpPr/>
          <p:nvPr/>
        </p:nvSpPr>
        <p:spPr>
          <a:xfrm>
            <a:off x="5134320" y="2671560"/>
            <a:ext cx="1821240" cy="602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7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79"/>
          <p:cNvSpPr/>
          <p:nvPr/>
        </p:nvSpPr>
        <p:spPr>
          <a:xfrm>
            <a:off x="5560560" y="2764440"/>
            <a:ext cx="8744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10" spc="-1" strike="noStrike">
                <a:solidFill>
                  <a:srgbClr val="3730a3"/>
                </a:solidFill>
                <a:latin typeface="Arial"/>
              </a:rPr>
              <a:t>1 · Proposals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80"/>
          <p:cNvSpPr/>
          <p:nvPr/>
        </p:nvSpPr>
        <p:spPr>
          <a:xfrm>
            <a:off x="5362560" y="2933280"/>
            <a:ext cx="136512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1f2937"/>
                </a:solidFill>
                <a:latin typeface="Arial"/>
              </a:rPr>
              <a:t>capacity-based (max-flow)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81"/>
          <p:cNvSpPr/>
          <p:nvPr/>
        </p:nvSpPr>
        <p:spPr>
          <a:xfrm>
            <a:off x="5354640" y="3059640"/>
            <a:ext cx="13802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1f2937"/>
                </a:solidFill>
                <a:latin typeface="Arial"/>
              </a:rPr>
              <a:t>logic-based (best/worst-of)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82"/>
          <p:cNvSpPr/>
          <p:nvPr/>
        </p:nvSpPr>
        <p:spPr>
          <a:xfrm>
            <a:off x="5134320" y="3429000"/>
            <a:ext cx="182124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7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83"/>
          <p:cNvSpPr/>
          <p:nvPr/>
        </p:nvSpPr>
        <p:spPr>
          <a:xfrm>
            <a:off x="5628960" y="3521160"/>
            <a:ext cx="6854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10" spc="-1" strike="noStrike">
                <a:solidFill>
                  <a:srgbClr val="3730a3"/>
                </a:solidFill>
                <a:latin typeface="Arial"/>
              </a:rPr>
              <a:t>2 · Guards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84"/>
          <p:cNvSpPr/>
          <p:nvPr/>
        </p:nvSpPr>
        <p:spPr>
          <a:xfrm>
            <a:off x="5560560" y="3690000"/>
            <a:ext cx="96732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1f2937"/>
                </a:solidFill>
                <a:latin typeface="Arial"/>
              </a:rPr>
              <a:t>dependency levels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1f2937"/>
                </a:solidFill>
                <a:latin typeface="Arial"/>
              </a:rPr>
              <a:t>backups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85"/>
          <p:cNvSpPr/>
          <p:nvPr/>
        </p:nvSpPr>
        <p:spPr>
          <a:xfrm>
            <a:off x="5713920" y="3960360"/>
            <a:ext cx="662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1f2937"/>
                </a:solidFill>
                <a:latin typeface="Arial"/>
              </a:rPr>
              <a:t>custom rules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86"/>
          <p:cNvSpPr/>
          <p:nvPr/>
        </p:nvSpPr>
        <p:spPr>
          <a:xfrm>
            <a:off x="5134320" y="4293000"/>
            <a:ext cx="1821240" cy="44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7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87"/>
          <p:cNvSpPr/>
          <p:nvPr/>
        </p:nvSpPr>
        <p:spPr>
          <a:xfrm>
            <a:off x="5313600" y="4314600"/>
            <a:ext cx="1439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10" spc="-1" strike="noStrike">
                <a:solidFill>
                  <a:srgbClr val="3730a3"/>
                </a:solidFill>
                <a:latin typeface="Arial"/>
              </a:rPr>
              <a:t>3 · Monotonic commit</a:t>
            </a:r>
            <a:endParaRPr b="0" lang="en-US" sz="1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88"/>
          <p:cNvSpPr/>
          <p:nvPr/>
        </p:nvSpPr>
        <p:spPr>
          <a:xfrm>
            <a:off x="5313600" y="4554720"/>
            <a:ext cx="146268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1f2937"/>
                </a:solidFill>
                <a:latin typeface="Arial"/>
              </a:rPr>
              <a:t>worst_of( proposal, current )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" name="Connector 89"/>
          <p:cNvCxnSpPr/>
          <p:nvPr/>
        </p:nvCxnSpPr>
        <p:spPr>
          <a:xfrm>
            <a:off x="6044760" y="3273840"/>
            <a:ext cx="360" cy="154440"/>
          </a:xfrm>
          <a:prstGeom prst="straightConnector1">
            <a:avLst/>
          </a:prstGeom>
          <a:ln w="28575">
            <a:solidFill>
              <a:srgbClr val="6366f1"/>
            </a:solidFill>
            <a:round/>
          </a:ln>
        </p:spPr>
      </p:cxnSp>
      <p:cxnSp>
        <p:nvCxnSpPr>
          <p:cNvPr id="125" name="Connector 90"/>
          <p:cNvCxnSpPr/>
          <p:nvPr/>
        </p:nvCxnSpPr>
        <p:spPr>
          <a:xfrm>
            <a:off x="6044760" y="4138560"/>
            <a:ext cx="360" cy="154440"/>
          </a:xfrm>
          <a:prstGeom prst="straightConnector1">
            <a:avLst/>
          </a:prstGeom>
          <a:ln w="28575">
            <a:solidFill>
              <a:srgbClr val="6366f1"/>
            </a:solidFill>
            <a:round/>
          </a:ln>
        </p:spPr>
      </p:cxnSp>
      <p:sp>
        <p:nvSpPr>
          <p:cNvPr id="126" name="Rounded Rectangle 94"/>
          <p:cNvSpPr/>
          <p:nvPr/>
        </p:nvSpPr>
        <p:spPr>
          <a:xfrm>
            <a:off x="7493400" y="613800"/>
            <a:ext cx="3429000" cy="578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7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95"/>
          <p:cNvSpPr/>
          <p:nvPr/>
        </p:nvSpPr>
        <p:spPr>
          <a:xfrm>
            <a:off x="8713080" y="653040"/>
            <a:ext cx="8377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20" spc="-1" strike="noStrike">
                <a:solidFill>
                  <a:srgbClr val="1f2937"/>
                </a:solidFill>
                <a:latin typeface="Arial"/>
              </a:rPr>
              <a:t>OUTPUT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8" name="Connector 97"/>
          <p:cNvCxnSpPr>
            <a:stCxn id="110" idx="3"/>
          </p:cNvCxnSpPr>
          <p:nvPr/>
        </p:nvCxnSpPr>
        <p:spPr>
          <a:xfrm flipV="1">
            <a:off x="7095600" y="3507120"/>
            <a:ext cx="362160" cy="23040"/>
          </a:xfrm>
          <a:prstGeom prst="straightConnector1">
            <a:avLst/>
          </a:prstGeom>
          <a:ln w="38160">
            <a:solidFill>
              <a:srgbClr val="000000"/>
            </a:solidFill>
            <a:prstDash val="sysDot"/>
            <a:round/>
            <a:tailEnd len="med" type="triangle" w="med"/>
          </a:ln>
        </p:spPr>
      </p:cxnSp>
      <p:sp>
        <p:nvSpPr>
          <p:cNvPr id="129" name="Rounded Rectangle 98"/>
          <p:cNvSpPr/>
          <p:nvPr/>
        </p:nvSpPr>
        <p:spPr>
          <a:xfrm>
            <a:off x="7646400" y="995040"/>
            <a:ext cx="3132000" cy="2469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143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99"/>
          <p:cNvSpPr/>
          <p:nvPr/>
        </p:nvSpPr>
        <p:spPr>
          <a:xfrm>
            <a:off x="7931160" y="1120680"/>
            <a:ext cx="13910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80" spc="-1" strike="noStrike">
                <a:solidFill>
                  <a:srgbClr val="1f2937"/>
                </a:solidFill>
                <a:latin typeface="Arial"/>
              </a:rPr>
              <a:t>1  Propagated State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1" name="Connector 100"/>
          <p:cNvCxnSpPr/>
          <p:nvPr/>
        </p:nvCxnSpPr>
        <p:spPr>
          <a:xfrm flipH="1">
            <a:off x="8313480" y="1676520"/>
            <a:ext cx="503280" cy="503280"/>
          </a:xfrm>
          <a:prstGeom prst="straightConnector1">
            <a:avLst/>
          </a:prstGeom>
          <a:ln w="28575">
            <a:solidFill>
              <a:srgbClr val="ef4444"/>
            </a:solidFill>
            <a:round/>
            <a:tailEnd type="triangle" w="med" len="med"/>
          </a:ln>
        </p:spPr>
      </p:cxnSp>
      <p:cxnSp>
        <p:nvCxnSpPr>
          <p:cNvPr id="132" name="Connector 101"/>
          <p:cNvCxnSpPr/>
          <p:nvPr/>
        </p:nvCxnSpPr>
        <p:spPr>
          <a:xfrm>
            <a:off x="8332920" y="2328120"/>
            <a:ext cx="637920" cy="360"/>
          </a:xfrm>
          <a:prstGeom prst="straightConnector1">
            <a:avLst/>
          </a:prstGeom>
          <a:ln w="28575">
            <a:solidFill>
              <a:srgbClr val="ef4444"/>
            </a:solidFill>
            <a:round/>
            <a:tailEnd type="triangle" w="med" len="med"/>
          </a:ln>
        </p:spPr>
      </p:cxnSp>
      <p:cxnSp>
        <p:nvCxnSpPr>
          <p:cNvPr id="133" name="Connector 102"/>
          <p:cNvCxnSpPr/>
          <p:nvPr/>
        </p:nvCxnSpPr>
        <p:spPr>
          <a:xfrm flipV="1">
            <a:off x="9332280" y="1894320"/>
            <a:ext cx="745560" cy="36036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134" name="Connector 103"/>
          <p:cNvCxnSpPr/>
          <p:nvPr/>
        </p:nvCxnSpPr>
        <p:spPr>
          <a:xfrm>
            <a:off x="9327960" y="2408400"/>
            <a:ext cx="754920" cy="414720"/>
          </a:xfrm>
          <a:prstGeom prst="straightConnector1">
            <a:avLst/>
          </a:prstGeom>
          <a:ln w="28575">
            <a:solidFill>
              <a:srgbClr val="f97316"/>
            </a:solidFill>
            <a:round/>
            <a:tailEnd type="triangle" w="med" len="med"/>
          </a:ln>
        </p:spPr>
      </p:cxnSp>
      <p:cxnSp>
        <p:nvCxnSpPr>
          <p:cNvPr id="135" name="Connector 104"/>
          <p:cNvCxnSpPr/>
          <p:nvPr/>
        </p:nvCxnSpPr>
        <p:spPr>
          <a:xfrm>
            <a:off x="9180720" y="2496240"/>
            <a:ext cx="360" cy="42768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cxnSp>
        <p:nvCxnSpPr>
          <p:cNvPr id="136" name="Connector 105"/>
          <p:cNvCxnSpPr/>
          <p:nvPr/>
        </p:nvCxnSpPr>
        <p:spPr>
          <a:xfrm flipV="1">
            <a:off x="9346320" y="2963520"/>
            <a:ext cx="714240" cy="138240"/>
          </a:xfrm>
          <a:prstGeom prst="straightConnector1">
            <a:avLst/>
          </a:prstGeom>
          <a:ln w="28575">
            <a:solidFill>
              <a:srgbClr val="f97316"/>
            </a:solidFill>
            <a:round/>
            <a:tailEnd type="triangle" w="med" len="med"/>
          </a:ln>
        </p:spPr>
      </p:cxnSp>
      <p:cxnSp>
        <p:nvCxnSpPr>
          <p:cNvPr id="137" name="Connector 106"/>
          <p:cNvCxnSpPr/>
          <p:nvPr/>
        </p:nvCxnSpPr>
        <p:spPr>
          <a:xfrm flipV="1">
            <a:off x="9287280" y="1964880"/>
            <a:ext cx="846720" cy="1038960"/>
          </a:xfrm>
          <a:prstGeom prst="straightConnector1">
            <a:avLst/>
          </a:prstGeom>
          <a:ln w="28575">
            <a:solidFill>
              <a:srgbClr val="22c55e"/>
            </a:solidFill>
            <a:round/>
            <a:tailEnd type="triangle" w="med" len="med"/>
          </a:ln>
        </p:spPr>
      </p:cxnSp>
      <p:sp>
        <p:nvSpPr>
          <p:cNvPr id="138" name="Rounded Rectangle 107"/>
          <p:cNvSpPr/>
          <p:nvPr/>
        </p:nvSpPr>
        <p:spPr>
          <a:xfrm>
            <a:off x="8788680" y="1410120"/>
            <a:ext cx="293760" cy="29376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Freeform 108"/>
          <p:cNvSpPr/>
          <p:nvPr/>
        </p:nvSpPr>
        <p:spPr>
          <a:xfrm>
            <a:off x="8883360" y="1573200"/>
            <a:ext cx="73080" cy="31320"/>
          </a:xfrm>
          <a:custGeom>
            <a:avLst/>
            <a:gdLst>
              <a:gd name="textAreaLeft" fmla="*/ 0 w 73080"/>
              <a:gd name="textAreaRight" fmla="*/ 73440 w 7308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73571" h="31530">
                <a:moveTo>
                  <a:pt x="73571" y="31530"/>
                </a:moveTo>
                <a:lnTo>
                  <a:pt x="73571" y="21020"/>
                </a:lnTo>
                <a:lnTo>
                  <a:pt x="73044" y="16342"/>
                </a:lnTo>
                <a:lnTo>
                  <a:pt x="71489" y="11899"/>
                </a:lnTo>
                <a:lnTo>
                  <a:pt x="68985" y="7914"/>
                </a:lnTo>
                <a:lnTo>
                  <a:pt x="65656" y="4585"/>
                </a:lnTo>
                <a:lnTo>
                  <a:pt x="61671" y="2081"/>
                </a:lnTo>
                <a:lnTo>
                  <a:pt x="57228" y="527"/>
                </a:lnTo>
                <a:lnTo>
                  <a:pt x="52550" y="0"/>
                </a:lnTo>
                <a:lnTo>
                  <a:pt x="21020" y="0"/>
                </a:lnTo>
                <a:lnTo>
                  <a:pt x="16343" y="527"/>
                </a:lnTo>
                <a:lnTo>
                  <a:pt x="11900" y="2081"/>
                </a:lnTo>
                <a:lnTo>
                  <a:pt x="7914" y="4585"/>
                </a:lnTo>
                <a:lnTo>
                  <a:pt x="4586" y="7914"/>
                </a:lnTo>
                <a:lnTo>
                  <a:pt x="2082" y="11899"/>
                </a:lnTo>
                <a:lnTo>
                  <a:pt x="527" y="16342"/>
                </a:lnTo>
                <a:lnTo>
                  <a:pt x="0" y="21020"/>
                </a:lnTo>
                <a:lnTo>
                  <a:pt x="0" y="31530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3320" bIns="-13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Freeform 109"/>
          <p:cNvSpPr/>
          <p:nvPr/>
        </p:nvSpPr>
        <p:spPr>
          <a:xfrm>
            <a:off x="8956800" y="1510920"/>
            <a:ext cx="15120" cy="40320"/>
          </a:xfrm>
          <a:custGeom>
            <a:avLst/>
            <a:gdLst>
              <a:gd name="textAreaLeft" fmla="*/ 0 w 15120"/>
              <a:gd name="textAreaRight" fmla="*/ 15480 w 15120"/>
              <a:gd name="textAreaTop" fmla="*/ 0 h 40320"/>
              <a:gd name="textAreaBottom" fmla="*/ 40680 h 40320"/>
            </a:gdLst>
            <a:ahLst/>
            <a:rect l="textAreaLeft" t="textAreaTop" r="textAreaRight" b="textAreaBottom"/>
            <a:pathLst>
              <a:path w="15594" h="40695">
                <a:moveTo>
                  <a:pt x="0" y="0"/>
                </a:moveTo>
                <a:lnTo>
                  <a:pt x="4675" y="1832"/>
                </a:lnTo>
                <a:lnTo>
                  <a:pt x="8783" y="4720"/>
                </a:lnTo>
                <a:lnTo>
                  <a:pt x="12089" y="8501"/>
                </a:lnTo>
                <a:lnTo>
                  <a:pt x="14403" y="12958"/>
                </a:lnTo>
                <a:lnTo>
                  <a:pt x="15594" y="17836"/>
                </a:lnTo>
                <a:lnTo>
                  <a:pt x="15594" y="22858"/>
                </a:lnTo>
                <a:lnTo>
                  <a:pt x="14403" y="27737"/>
                </a:lnTo>
                <a:lnTo>
                  <a:pt x="12089" y="32193"/>
                </a:lnTo>
                <a:lnTo>
                  <a:pt x="8783" y="35974"/>
                </a:lnTo>
                <a:lnTo>
                  <a:pt x="4675" y="38863"/>
                </a:lnTo>
                <a:lnTo>
                  <a:pt x="0" y="40695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320" bIns="-4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Freeform 110"/>
          <p:cNvSpPr/>
          <p:nvPr/>
        </p:nvSpPr>
        <p:spPr>
          <a:xfrm>
            <a:off x="8972640" y="1573920"/>
            <a:ext cx="15480" cy="30600"/>
          </a:xfrm>
          <a:custGeom>
            <a:avLst/>
            <a:gdLst>
              <a:gd name="textAreaLeft" fmla="*/ 0 w 15480"/>
              <a:gd name="textAreaRight" fmla="*/ 15840 w 15480"/>
              <a:gd name="textAreaTop" fmla="*/ 0 h 30600"/>
              <a:gd name="textAreaBottom" fmla="*/ 30960 h 30600"/>
            </a:gdLst>
            <a:ahLst/>
            <a:rect l="textAreaLeft" t="textAreaTop" r="textAreaRight" b="textAreaBottom"/>
            <a:pathLst>
              <a:path w="15765" h="30847">
                <a:moveTo>
                  <a:pt x="15765" y="30847"/>
                </a:moveTo>
                <a:lnTo>
                  <a:pt x="15765" y="20337"/>
                </a:lnTo>
                <a:lnTo>
                  <a:pt x="15257" y="15759"/>
                </a:lnTo>
                <a:lnTo>
                  <a:pt x="13764" y="11402"/>
                </a:lnTo>
                <a:lnTo>
                  <a:pt x="11358" y="7474"/>
                </a:lnTo>
                <a:lnTo>
                  <a:pt x="8154" y="4165"/>
                </a:lnTo>
                <a:lnTo>
                  <a:pt x="4306" y="163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4040" bIns="-14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Oval 111"/>
          <p:cNvSpPr/>
          <p:nvPr/>
        </p:nvSpPr>
        <p:spPr>
          <a:xfrm>
            <a:off x="8892000" y="1503000"/>
            <a:ext cx="55800" cy="55800"/>
          </a:xfrm>
          <a:prstGeom prst="ellipse">
            <a:avLst/>
          </a:pr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12"/>
          <p:cNvSpPr/>
          <p:nvPr/>
        </p:nvSpPr>
        <p:spPr>
          <a:xfrm>
            <a:off x="8726040" y="1748160"/>
            <a:ext cx="41868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Operator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Freeform 113"/>
          <p:cNvSpPr/>
          <p:nvPr/>
        </p:nvSpPr>
        <p:spPr>
          <a:xfrm>
            <a:off x="8010720" y="217404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154148" y="0"/>
                </a:moveTo>
                <a:lnTo>
                  <a:pt x="308296" y="154148"/>
                </a:lnTo>
                <a:lnTo>
                  <a:pt x="154148" y="308296"/>
                </a:lnTo>
                <a:lnTo>
                  <a:pt x="0" y="154148"/>
                </a:lnTo>
                <a:close/>
              </a:path>
            </a:pathLst>
          </a:custGeom>
          <a:solidFill>
            <a:srgbClr val="ef4444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Freeform 114"/>
          <p:cNvSpPr/>
          <p:nvPr/>
        </p:nvSpPr>
        <p:spPr>
          <a:xfrm>
            <a:off x="8140320" y="2174040"/>
            <a:ext cx="61200" cy="307800"/>
          </a:xfrm>
          <a:custGeom>
            <a:avLst/>
            <a:gdLst>
              <a:gd name="textAreaLeft" fmla="*/ 0 w 61200"/>
              <a:gd name="textAreaRight" fmla="*/ 61560 w 612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61660" h="308296">
                <a:moveTo>
                  <a:pt x="12332" y="0"/>
                </a:moveTo>
                <a:lnTo>
                  <a:pt x="55494" y="55493"/>
                </a:lnTo>
                <a:lnTo>
                  <a:pt x="6166" y="80157"/>
                </a:lnTo>
                <a:lnTo>
                  <a:pt x="61660" y="147982"/>
                </a:lnTo>
                <a:lnTo>
                  <a:pt x="0" y="172645"/>
                </a:lnTo>
                <a:lnTo>
                  <a:pt x="49328" y="231222"/>
                </a:lnTo>
                <a:lnTo>
                  <a:pt x="12332" y="252802"/>
                </a:lnTo>
                <a:lnTo>
                  <a:pt x="43162" y="308296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Freeform 115"/>
          <p:cNvSpPr/>
          <p:nvPr/>
        </p:nvSpPr>
        <p:spPr>
          <a:xfrm>
            <a:off x="8201880" y="2322000"/>
            <a:ext cx="42840" cy="73800"/>
          </a:xfrm>
          <a:custGeom>
            <a:avLst/>
            <a:gdLst>
              <a:gd name="textAreaLeft" fmla="*/ 0 w 42840"/>
              <a:gd name="textAreaRight" fmla="*/ 43200 w 42840"/>
              <a:gd name="textAreaTop" fmla="*/ 0 h 73800"/>
              <a:gd name="textAreaBottom" fmla="*/ 74160 h 73800"/>
            </a:gdLst>
            <a:ahLst/>
            <a:rect l="textAreaLeft" t="textAreaTop" r="textAreaRight" b="textAreaBottom"/>
            <a:pathLst>
              <a:path w="43161" h="73991">
                <a:moveTo>
                  <a:pt x="0" y="0"/>
                </a:moveTo>
                <a:lnTo>
                  <a:pt x="43161" y="43161"/>
                </a:lnTo>
                <a:lnTo>
                  <a:pt x="18497" y="73991"/>
                </a:lnTo>
              </a:path>
            </a:pathLst>
          </a:custGeom>
          <a:noFill/>
          <a:ln w="228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Freeform 116"/>
          <p:cNvSpPr/>
          <p:nvPr/>
        </p:nvSpPr>
        <p:spPr>
          <a:xfrm>
            <a:off x="8140320" y="2174040"/>
            <a:ext cx="61200" cy="307800"/>
          </a:xfrm>
          <a:custGeom>
            <a:avLst/>
            <a:gdLst>
              <a:gd name="textAreaLeft" fmla="*/ 0 w 61200"/>
              <a:gd name="textAreaRight" fmla="*/ 61560 w 612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61660" h="308296">
                <a:moveTo>
                  <a:pt x="12332" y="0"/>
                </a:moveTo>
                <a:lnTo>
                  <a:pt x="55494" y="55493"/>
                </a:lnTo>
                <a:lnTo>
                  <a:pt x="6166" y="80157"/>
                </a:lnTo>
                <a:lnTo>
                  <a:pt x="61660" y="147982"/>
                </a:lnTo>
                <a:lnTo>
                  <a:pt x="0" y="172645"/>
                </a:lnTo>
                <a:lnTo>
                  <a:pt x="49328" y="231222"/>
                </a:lnTo>
                <a:lnTo>
                  <a:pt x="12332" y="252802"/>
                </a:lnTo>
                <a:lnTo>
                  <a:pt x="43162" y="308296"/>
                </a:lnTo>
              </a:path>
            </a:pathLst>
          </a:custGeom>
          <a:noFill/>
          <a:ln w="16192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Freeform 117"/>
          <p:cNvSpPr/>
          <p:nvPr/>
        </p:nvSpPr>
        <p:spPr>
          <a:xfrm>
            <a:off x="8201880" y="2322000"/>
            <a:ext cx="42840" cy="73800"/>
          </a:xfrm>
          <a:custGeom>
            <a:avLst/>
            <a:gdLst>
              <a:gd name="textAreaLeft" fmla="*/ 0 w 42840"/>
              <a:gd name="textAreaRight" fmla="*/ 43200 w 42840"/>
              <a:gd name="textAreaTop" fmla="*/ 0 h 73800"/>
              <a:gd name="textAreaBottom" fmla="*/ 74160 h 73800"/>
            </a:gdLst>
            <a:ahLst/>
            <a:rect l="textAreaLeft" t="textAreaTop" r="textAreaRight" b="textAreaBottom"/>
            <a:pathLst>
              <a:path w="43161" h="73991">
                <a:moveTo>
                  <a:pt x="0" y="0"/>
                </a:moveTo>
                <a:lnTo>
                  <a:pt x="43161" y="43161"/>
                </a:lnTo>
                <a:lnTo>
                  <a:pt x="18497" y="73991"/>
                </a:lnTo>
              </a:path>
            </a:pathLst>
          </a:custGeom>
          <a:noFill/>
          <a:ln w="10477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Freeform 118"/>
          <p:cNvSpPr/>
          <p:nvPr/>
        </p:nvSpPr>
        <p:spPr>
          <a:xfrm>
            <a:off x="8117640" y="2275560"/>
            <a:ext cx="94320" cy="104760"/>
          </a:xfrm>
          <a:custGeom>
            <a:avLst/>
            <a:gdLst>
              <a:gd name="textAreaLeft" fmla="*/ 0 w 94320"/>
              <a:gd name="textAreaRight" fmla="*/ 94680 w 94320"/>
              <a:gd name="textAreaTop" fmla="*/ 0 h 104760"/>
              <a:gd name="textAreaBottom" fmla="*/ 105120 h 104760"/>
            </a:gdLst>
            <a:ahLst/>
            <a:rect l="textAreaLeft" t="textAreaTop" r="textAreaRight" b="textAreaBottom"/>
            <a:pathLst>
              <a:path w="94554" h="105041">
                <a:moveTo>
                  <a:pt x="5237" y="63031"/>
                </a:moveTo>
                <a:lnTo>
                  <a:pt x="2425" y="62227"/>
                </a:lnTo>
                <a:lnTo>
                  <a:pt x="479" y="60044"/>
                </a:lnTo>
                <a:lnTo>
                  <a:pt x="0" y="57159"/>
                </a:lnTo>
                <a:lnTo>
                  <a:pt x="1138" y="54465"/>
                </a:lnTo>
                <a:lnTo>
                  <a:pt x="53163" y="864"/>
                </a:lnTo>
                <a:lnTo>
                  <a:pt x="54671" y="0"/>
                </a:lnTo>
                <a:lnTo>
                  <a:pt x="56388" y="267"/>
                </a:lnTo>
                <a:lnTo>
                  <a:pt x="57563" y="1547"/>
                </a:lnTo>
                <a:lnTo>
                  <a:pt x="57682" y="3281"/>
                </a:lnTo>
                <a:moveTo>
                  <a:pt x="57682" y="3281"/>
                </a:moveTo>
                <a:lnTo>
                  <a:pt x="47592" y="34916"/>
                </a:lnTo>
                <a:lnTo>
                  <a:pt x="47301" y="37413"/>
                </a:lnTo>
                <a:lnTo>
                  <a:pt x="48202" y="39758"/>
                </a:lnTo>
                <a:lnTo>
                  <a:pt x="50090" y="41418"/>
                </a:lnTo>
                <a:lnTo>
                  <a:pt x="52532" y="42011"/>
                </a:lnTo>
                <a:moveTo>
                  <a:pt x="52532" y="42011"/>
                </a:moveTo>
                <a:lnTo>
                  <a:pt x="89317" y="42011"/>
                </a:lnTo>
                <a:lnTo>
                  <a:pt x="92129" y="42815"/>
                </a:lnTo>
                <a:lnTo>
                  <a:pt x="94076" y="44997"/>
                </a:lnTo>
                <a:lnTo>
                  <a:pt x="94554" y="47882"/>
                </a:lnTo>
                <a:lnTo>
                  <a:pt x="93416" y="50576"/>
                </a:lnTo>
                <a:lnTo>
                  <a:pt x="41391" y="104178"/>
                </a:lnTo>
                <a:lnTo>
                  <a:pt x="39883" y="105041"/>
                </a:lnTo>
                <a:lnTo>
                  <a:pt x="38166" y="104774"/>
                </a:lnTo>
                <a:lnTo>
                  <a:pt x="36991" y="103494"/>
                </a:lnTo>
                <a:lnTo>
                  <a:pt x="36872" y="101760"/>
                </a:lnTo>
                <a:lnTo>
                  <a:pt x="46962" y="70125"/>
                </a:lnTo>
                <a:lnTo>
                  <a:pt x="47253" y="67629"/>
                </a:lnTo>
                <a:lnTo>
                  <a:pt x="46352" y="65283"/>
                </a:lnTo>
                <a:lnTo>
                  <a:pt x="44464" y="63624"/>
                </a:lnTo>
                <a:lnTo>
                  <a:pt x="42022" y="63031"/>
                </a:lnTo>
                <a:lnTo>
                  <a:pt x="5237" y="63031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19"/>
          <p:cNvSpPr/>
          <p:nvPr/>
        </p:nvSpPr>
        <p:spPr>
          <a:xfrm>
            <a:off x="7806960" y="2518920"/>
            <a:ext cx="71568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Electric Source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reeform 120"/>
          <p:cNvSpPr/>
          <p:nvPr/>
        </p:nvSpPr>
        <p:spPr>
          <a:xfrm>
            <a:off x="9027000" y="217404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61659" y="0"/>
                </a:moveTo>
                <a:lnTo>
                  <a:pt x="246636" y="0"/>
                </a:lnTo>
                <a:lnTo>
                  <a:pt x="308296" y="61659"/>
                </a:lnTo>
                <a:lnTo>
                  <a:pt x="308296" y="246636"/>
                </a:lnTo>
                <a:lnTo>
                  <a:pt x="246636" y="308296"/>
                </a:lnTo>
                <a:lnTo>
                  <a:pt x="61659" y="308296"/>
                </a:lnTo>
                <a:lnTo>
                  <a:pt x="0" y="246636"/>
                </a:lnTo>
                <a:lnTo>
                  <a:pt x="0" y="61659"/>
                </a:lnTo>
                <a:close/>
              </a:path>
            </a:pathLst>
          </a:custGeom>
          <a:solidFill>
            <a:srgbClr val="ef4444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Freeform 121"/>
          <p:cNvSpPr/>
          <p:nvPr/>
        </p:nvSpPr>
        <p:spPr>
          <a:xfrm>
            <a:off x="9156240" y="2174040"/>
            <a:ext cx="61200" cy="307800"/>
          </a:xfrm>
          <a:custGeom>
            <a:avLst/>
            <a:gdLst>
              <a:gd name="textAreaLeft" fmla="*/ 0 w 61200"/>
              <a:gd name="textAreaRight" fmla="*/ 61560 w 612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61659" h="308296">
                <a:moveTo>
                  <a:pt x="12332" y="0"/>
                </a:moveTo>
                <a:lnTo>
                  <a:pt x="55493" y="55493"/>
                </a:lnTo>
                <a:lnTo>
                  <a:pt x="6166" y="80157"/>
                </a:lnTo>
                <a:lnTo>
                  <a:pt x="61659" y="147982"/>
                </a:lnTo>
                <a:lnTo>
                  <a:pt x="0" y="172645"/>
                </a:lnTo>
                <a:lnTo>
                  <a:pt x="49327" y="231222"/>
                </a:lnTo>
                <a:lnTo>
                  <a:pt x="12332" y="252802"/>
                </a:lnTo>
                <a:lnTo>
                  <a:pt x="43161" y="308296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Freeform 122"/>
          <p:cNvSpPr/>
          <p:nvPr/>
        </p:nvSpPr>
        <p:spPr>
          <a:xfrm>
            <a:off x="9217800" y="2322000"/>
            <a:ext cx="42840" cy="73800"/>
          </a:xfrm>
          <a:custGeom>
            <a:avLst/>
            <a:gdLst>
              <a:gd name="textAreaLeft" fmla="*/ 0 w 42840"/>
              <a:gd name="textAreaRight" fmla="*/ 43200 w 42840"/>
              <a:gd name="textAreaTop" fmla="*/ 0 h 73800"/>
              <a:gd name="textAreaBottom" fmla="*/ 74160 h 73800"/>
            </a:gdLst>
            <a:ahLst/>
            <a:rect l="textAreaLeft" t="textAreaTop" r="textAreaRight" b="textAreaBottom"/>
            <a:pathLst>
              <a:path w="43162" h="73991">
                <a:moveTo>
                  <a:pt x="0" y="0"/>
                </a:moveTo>
                <a:lnTo>
                  <a:pt x="43162" y="43161"/>
                </a:lnTo>
                <a:lnTo>
                  <a:pt x="18498" y="73991"/>
                </a:lnTo>
              </a:path>
            </a:pathLst>
          </a:custGeom>
          <a:noFill/>
          <a:ln w="228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Freeform 123"/>
          <p:cNvSpPr/>
          <p:nvPr/>
        </p:nvSpPr>
        <p:spPr>
          <a:xfrm>
            <a:off x="9156240" y="2174040"/>
            <a:ext cx="61200" cy="307800"/>
          </a:xfrm>
          <a:custGeom>
            <a:avLst/>
            <a:gdLst>
              <a:gd name="textAreaLeft" fmla="*/ 0 w 61200"/>
              <a:gd name="textAreaRight" fmla="*/ 61560 w 612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61659" h="308296">
                <a:moveTo>
                  <a:pt x="12332" y="0"/>
                </a:moveTo>
                <a:lnTo>
                  <a:pt x="55493" y="55493"/>
                </a:lnTo>
                <a:lnTo>
                  <a:pt x="6166" y="80157"/>
                </a:lnTo>
                <a:lnTo>
                  <a:pt x="61659" y="147982"/>
                </a:lnTo>
                <a:lnTo>
                  <a:pt x="0" y="172645"/>
                </a:lnTo>
                <a:lnTo>
                  <a:pt x="49327" y="231222"/>
                </a:lnTo>
                <a:lnTo>
                  <a:pt x="12332" y="252802"/>
                </a:lnTo>
                <a:lnTo>
                  <a:pt x="43161" y="308296"/>
                </a:lnTo>
              </a:path>
            </a:pathLst>
          </a:custGeom>
          <a:noFill/>
          <a:ln w="16192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Freeform 124"/>
          <p:cNvSpPr/>
          <p:nvPr/>
        </p:nvSpPr>
        <p:spPr>
          <a:xfrm>
            <a:off x="9217800" y="2322000"/>
            <a:ext cx="42840" cy="73800"/>
          </a:xfrm>
          <a:custGeom>
            <a:avLst/>
            <a:gdLst>
              <a:gd name="textAreaLeft" fmla="*/ 0 w 42840"/>
              <a:gd name="textAreaRight" fmla="*/ 43200 w 42840"/>
              <a:gd name="textAreaTop" fmla="*/ 0 h 73800"/>
              <a:gd name="textAreaBottom" fmla="*/ 74160 h 73800"/>
            </a:gdLst>
            <a:ahLst/>
            <a:rect l="textAreaLeft" t="textAreaTop" r="textAreaRight" b="textAreaBottom"/>
            <a:pathLst>
              <a:path w="43162" h="73991">
                <a:moveTo>
                  <a:pt x="0" y="0"/>
                </a:moveTo>
                <a:lnTo>
                  <a:pt x="43162" y="43161"/>
                </a:lnTo>
                <a:lnTo>
                  <a:pt x="18498" y="73991"/>
                </a:lnTo>
              </a:path>
            </a:pathLst>
          </a:custGeom>
          <a:noFill/>
          <a:ln w="10477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Freeform 125"/>
          <p:cNvSpPr/>
          <p:nvPr/>
        </p:nvSpPr>
        <p:spPr>
          <a:xfrm>
            <a:off x="9133560" y="2275560"/>
            <a:ext cx="94320" cy="104760"/>
          </a:xfrm>
          <a:custGeom>
            <a:avLst/>
            <a:gdLst>
              <a:gd name="textAreaLeft" fmla="*/ 0 w 94320"/>
              <a:gd name="textAreaRight" fmla="*/ 94680 w 94320"/>
              <a:gd name="textAreaTop" fmla="*/ 0 h 104760"/>
              <a:gd name="textAreaBottom" fmla="*/ 105120 h 104760"/>
            </a:gdLst>
            <a:ahLst/>
            <a:rect l="textAreaLeft" t="textAreaTop" r="textAreaRight" b="textAreaBottom"/>
            <a:pathLst>
              <a:path w="94554" h="105041">
                <a:moveTo>
                  <a:pt x="5236" y="63031"/>
                </a:moveTo>
                <a:lnTo>
                  <a:pt x="2425" y="62227"/>
                </a:lnTo>
                <a:lnTo>
                  <a:pt x="478" y="60044"/>
                </a:lnTo>
                <a:lnTo>
                  <a:pt x="0" y="57159"/>
                </a:lnTo>
                <a:lnTo>
                  <a:pt x="1137" y="54465"/>
                </a:lnTo>
                <a:lnTo>
                  <a:pt x="53162" y="864"/>
                </a:lnTo>
                <a:lnTo>
                  <a:pt x="54670" y="0"/>
                </a:lnTo>
                <a:lnTo>
                  <a:pt x="56387" y="267"/>
                </a:lnTo>
                <a:lnTo>
                  <a:pt x="57563" y="1547"/>
                </a:lnTo>
                <a:lnTo>
                  <a:pt x="57682" y="3281"/>
                </a:lnTo>
                <a:moveTo>
                  <a:pt x="57682" y="3281"/>
                </a:moveTo>
                <a:lnTo>
                  <a:pt x="47592" y="34916"/>
                </a:lnTo>
                <a:lnTo>
                  <a:pt x="47301" y="37413"/>
                </a:lnTo>
                <a:lnTo>
                  <a:pt x="48202" y="39758"/>
                </a:lnTo>
                <a:lnTo>
                  <a:pt x="50090" y="41418"/>
                </a:lnTo>
                <a:lnTo>
                  <a:pt x="52532" y="42011"/>
                </a:lnTo>
                <a:moveTo>
                  <a:pt x="52532" y="42011"/>
                </a:moveTo>
                <a:lnTo>
                  <a:pt x="89317" y="42011"/>
                </a:lnTo>
                <a:lnTo>
                  <a:pt x="92129" y="42815"/>
                </a:lnTo>
                <a:lnTo>
                  <a:pt x="94075" y="44997"/>
                </a:lnTo>
                <a:lnTo>
                  <a:pt x="94554" y="47882"/>
                </a:lnTo>
                <a:lnTo>
                  <a:pt x="93416" y="50576"/>
                </a:lnTo>
                <a:lnTo>
                  <a:pt x="41391" y="104178"/>
                </a:lnTo>
                <a:lnTo>
                  <a:pt x="39883" y="105041"/>
                </a:lnTo>
                <a:lnTo>
                  <a:pt x="38166" y="104774"/>
                </a:lnTo>
                <a:lnTo>
                  <a:pt x="36991" y="103494"/>
                </a:lnTo>
                <a:lnTo>
                  <a:pt x="36872" y="101760"/>
                </a:lnTo>
                <a:lnTo>
                  <a:pt x="46961" y="70125"/>
                </a:lnTo>
                <a:lnTo>
                  <a:pt x="47253" y="67629"/>
                </a:lnTo>
                <a:lnTo>
                  <a:pt x="46351" y="65283"/>
                </a:lnTo>
                <a:lnTo>
                  <a:pt x="44464" y="63624"/>
                </a:lnTo>
                <a:lnTo>
                  <a:pt x="42022" y="63031"/>
                </a:lnTo>
                <a:lnTo>
                  <a:pt x="5236" y="63031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126"/>
          <p:cNvSpPr/>
          <p:nvPr/>
        </p:nvSpPr>
        <p:spPr>
          <a:xfrm>
            <a:off x="8929440" y="2518920"/>
            <a:ext cx="50256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Substation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Freeform 127"/>
          <p:cNvSpPr/>
          <p:nvPr/>
        </p:nvSpPr>
        <p:spPr>
          <a:xfrm>
            <a:off x="9027000" y="297972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61659" y="0"/>
                </a:moveTo>
                <a:lnTo>
                  <a:pt x="246636" y="0"/>
                </a:lnTo>
                <a:lnTo>
                  <a:pt x="308296" y="61659"/>
                </a:lnTo>
                <a:lnTo>
                  <a:pt x="308296" y="246636"/>
                </a:lnTo>
                <a:lnTo>
                  <a:pt x="246636" y="308296"/>
                </a:lnTo>
                <a:lnTo>
                  <a:pt x="61659" y="308296"/>
                </a:lnTo>
                <a:lnTo>
                  <a:pt x="0" y="246636"/>
                </a:lnTo>
                <a:lnTo>
                  <a:pt x="0" y="61659"/>
                </a:lnTo>
                <a:close/>
              </a:path>
            </a:pathLst>
          </a:custGeom>
          <a:solidFill>
            <a:srgbClr val="22c55e"/>
          </a:solidFill>
          <a:ln w="42862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Freeform 128"/>
          <p:cNvSpPr/>
          <p:nvPr/>
        </p:nvSpPr>
        <p:spPr>
          <a:xfrm>
            <a:off x="9144360" y="3086640"/>
            <a:ext cx="73080" cy="99360"/>
          </a:xfrm>
          <a:custGeom>
            <a:avLst/>
            <a:gdLst>
              <a:gd name="textAreaLeft" fmla="*/ 0 w 73080"/>
              <a:gd name="textAreaRight" fmla="*/ 73440 w 73080"/>
              <a:gd name="textAreaTop" fmla="*/ 0 h 99360"/>
              <a:gd name="textAreaBottom" fmla="*/ 99720 h 99360"/>
            </a:gdLst>
            <a:ahLst/>
            <a:rect l="textAreaLeft" t="textAreaTop" r="textAreaRight" b="textAreaBottom"/>
            <a:pathLst>
              <a:path w="73571" h="99846">
                <a:moveTo>
                  <a:pt x="36786" y="99846"/>
                </a:moveTo>
                <a:lnTo>
                  <a:pt x="42021" y="99472"/>
                </a:lnTo>
                <a:lnTo>
                  <a:pt x="47149" y="98356"/>
                </a:lnTo>
                <a:lnTo>
                  <a:pt x="52067" y="96522"/>
                </a:lnTo>
                <a:lnTo>
                  <a:pt x="56673" y="94007"/>
                </a:lnTo>
                <a:lnTo>
                  <a:pt x="60875" y="90861"/>
                </a:lnTo>
                <a:lnTo>
                  <a:pt x="64586" y="87150"/>
                </a:lnTo>
                <a:lnTo>
                  <a:pt x="67731" y="82948"/>
                </a:lnTo>
                <a:lnTo>
                  <a:pt x="70247" y="78342"/>
                </a:lnTo>
                <a:lnTo>
                  <a:pt x="72081" y="73424"/>
                </a:lnTo>
                <a:lnTo>
                  <a:pt x="73197" y="68296"/>
                </a:lnTo>
                <a:lnTo>
                  <a:pt x="73571" y="63061"/>
                </a:lnTo>
                <a:lnTo>
                  <a:pt x="57806" y="34158"/>
                </a:lnTo>
                <a:lnTo>
                  <a:pt x="36786" y="0"/>
                </a:lnTo>
                <a:lnTo>
                  <a:pt x="15765" y="34158"/>
                </a:lnTo>
                <a:lnTo>
                  <a:pt x="0" y="63061"/>
                </a:lnTo>
                <a:lnTo>
                  <a:pt x="375" y="68296"/>
                </a:lnTo>
                <a:lnTo>
                  <a:pt x="1490" y="73424"/>
                </a:lnTo>
                <a:lnTo>
                  <a:pt x="3325" y="78342"/>
                </a:lnTo>
                <a:lnTo>
                  <a:pt x="5840" y="82948"/>
                </a:lnTo>
                <a:lnTo>
                  <a:pt x="8985" y="87150"/>
                </a:lnTo>
                <a:lnTo>
                  <a:pt x="12696" y="90861"/>
                </a:lnTo>
                <a:lnTo>
                  <a:pt x="16898" y="94007"/>
                </a:lnTo>
                <a:lnTo>
                  <a:pt x="21504" y="96522"/>
                </a:lnTo>
                <a:lnTo>
                  <a:pt x="26422" y="98356"/>
                </a:lnTo>
                <a:lnTo>
                  <a:pt x="31551" y="99472"/>
                </a:lnTo>
                <a:lnTo>
                  <a:pt x="36786" y="99846"/>
                </a:lnTo>
                <a:close/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29"/>
          <p:cNvSpPr/>
          <p:nvPr/>
        </p:nvSpPr>
        <p:spPr>
          <a:xfrm>
            <a:off x="8887320" y="3324600"/>
            <a:ext cx="58644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Water Pump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Oval 130"/>
          <p:cNvSpPr/>
          <p:nvPr/>
        </p:nvSpPr>
        <p:spPr>
          <a:xfrm>
            <a:off x="10119960" y="1655640"/>
            <a:ext cx="293760" cy="293760"/>
          </a:xfrm>
          <a:prstGeom prst="ellipse">
            <a:avLst/>
          </a:prstGeom>
          <a:solidFill>
            <a:srgbClr val="22c55e"/>
          </a:solidFill>
          <a:ln w="42862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Freeform 131"/>
          <p:cNvSpPr/>
          <p:nvPr/>
        </p:nvSpPr>
        <p:spPr>
          <a:xfrm>
            <a:off x="10174320" y="1761840"/>
            <a:ext cx="73080" cy="81360"/>
          </a:xfrm>
          <a:custGeom>
            <a:avLst/>
            <a:gdLst>
              <a:gd name="textAreaLeft" fmla="*/ 0 w 73080"/>
              <a:gd name="textAreaRight" fmla="*/ 73440 w 73080"/>
              <a:gd name="textAreaTop" fmla="*/ 0 h 81360"/>
              <a:gd name="textAreaBottom" fmla="*/ 81720 h 81360"/>
            </a:gdLst>
            <a:ahLst/>
            <a:rect l="textAreaLeft" t="textAreaTop" r="textAreaRight" b="textAreaBottom"/>
            <a:pathLst>
              <a:path w="73542" h="81698">
                <a:moveTo>
                  <a:pt x="4073" y="49023"/>
                </a:moveTo>
                <a:lnTo>
                  <a:pt x="1886" y="48398"/>
                </a:lnTo>
                <a:lnTo>
                  <a:pt x="372" y="46700"/>
                </a:lnTo>
                <a:lnTo>
                  <a:pt x="0" y="44456"/>
                </a:lnTo>
                <a:lnTo>
                  <a:pt x="885" y="42361"/>
                </a:lnTo>
                <a:lnTo>
                  <a:pt x="41348" y="671"/>
                </a:lnTo>
                <a:lnTo>
                  <a:pt x="42521" y="0"/>
                </a:lnTo>
                <a:lnTo>
                  <a:pt x="43857" y="207"/>
                </a:lnTo>
                <a:lnTo>
                  <a:pt x="44771" y="1203"/>
                </a:lnTo>
                <a:lnTo>
                  <a:pt x="44863" y="2551"/>
                </a:lnTo>
                <a:moveTo>
                  <a:pt x="44863" y="2551"/>
                </a:moveTo>
                <a:lnTo>
                  <a:pt x="37016" y="27156"/>
                </a:lnTo>
                <a:lnTo>
                  <a:pt x="36789" y="29098"/>
                </a:lnTo>
                <a:lnTo>
                  <a:pt x="37490" y="30922"/>
                </a:lnTo>
                <a:lnTo>
                  <a:pt x="38958" y="32213"/>
                </a:lnTo>
                <a:lnTo>
                  <a:pt x="40858" y="32674"/>
                </a:lnTo>
                <a:moveTo>
                  <a:pt x="40858" y="32674"/>
                </a:moveTo>
                <a:lnTo>
                  <a:pt x="69469" y="32674"/>
                </a:lnTo>
                <a:lnTo>
                  <a:pt x="71656" y="33300"/>
                </a:lnTo>
                <a:lnTo>
                  <a:pt x="73170" y="34997"/>
                </a:lnTo>
                <a:lnTo>
                  <a:pt x="73542" y="37241"/>
                </a:lnTo>
                <a:lnTo>
                  <a:pt x="72657" y="39336"/>
                </a:lnTo>
                <a:lnTo>
                  <a:pt x="32193" y="81026"/>
                </a:lnTo>
                <a:lnTo>
                  <a:pt x="31020" y="81698"/>
                </a:lnTo>
                <a:lnTo>
                  <a:pt x="29684" y="81490"/>
                </a:lnTo>
                <a:lnTo>
                  <a:pt x="28771" y="80495"/>
                </a:lnTo>
                <a:lnTo>
                  <a:pt x="28678" y="79146"/>
                </a:lnTo>
                <a:lnTo>
                  <a:pt x="36525" y="54541"/>
                </a:lnTo>
                <a:lnTo>
                  <a:pt x="36752" y="52599"/>
                </a:lnTo>
                <a:lnTo>
                  <a:pt x="36051" y="50775"/>
                </a:lnTo>
                <a:lnTo>
                  <a:pt x="34583" y="49484"/>
                </a:lnTo>
                <a:lnTo>
                  <a:pt x="32683" y="49023"/>
                </a:lnTo>
                <a:lnTo>
                  <a:pt x="4073" y="49023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Freeform 132"/>
          <p:cNvSpPr/>
          <p:nvPr/>
        </p:nvSpPr>
        <p:spPr>
          <a:xfrm>
            <a:off x="10294560" y="1765800"/>
            <a:ext cx="56880" cy="77400"/>
          </a:xfrm>
          <a:custGeom>
            <a:avLst/>
            <a:gdLst>
              <a:gd name="textAreaLeft" fmla="*/ 0 w 56880"/>
              <a:gd name="textAreaRight" fmla="*/ 57240 w 56880"/>
              <a:gd name="textAreaTop" fmla="*/ 0 h 77400"/>
              <a:gd name="textAreaBottom" fmla="*/ 77760 h 77400"/>
            </a:gdLst>
            <a:ahLst/>
            <a:rect l="textAreaLeft" t="textAreaTop" r="textAreaRight" b="textAreaBottom"/>
            <a:pathLst>
              <a:path w="57222" h="77658">
                <a:moveTo>
                  <a:pt x="28611" y="77658"/>
                </a:moveTo>
                <a:lnTo>
                  <a:pt x="32683" y="77367"/>
                </a:lnTo>
                <a:lnTo>
                  <a:pt x="36672" y="76499"/>
                </a:lnTo>
                <a:lnTo>
                  <a:pt x="40497" y="75073"/>
                </a:lnTo>
                <a:lnTo>
                  <a:pt x="44079" y="73116"/>
                </a:lnTo>
                <a:lnTo>
                  <a:pt x="47347" y="70670"/>
                </a:lnTo>
                <a:lnTo>
                  <a:pt x="50234" y="67783"/>
                </a:lnTo>
                <a:lnTo>
                  <a:pt x="52680" y="64516"/>
                </a:lnTo>
                <a:lnTo>
                  <a:pt x="54636" y="60933"/>
                </a:lnTo>
                <a:lnTo>
                  <a:pt x="56063" y="57108"/>
                </a:lnTo>
                <a:lnTo>
                  <a:pt x="56931" y="53119"/>
                </a:lnTo>
                <a:lnTo>
                  <a:pt x="57222" y="49047"/>
                </a:lnTo>
                <a:lnTo>
                  <a:pt x="44960" y="26568"/>
                </a:lnTo>
                <a:lnTo>
                  <a:pt x="28611" y="0"/>
                </a:lnTo>
                <a:lnTo>
                  <a:pt x="12262" y="26568"/>
                </a:lnTo>
                <a:lnTo>
                  <a:pt x="0" y="49047"/>
                </a:lnTo>
                <a:lnTo>
                  <a:pt x="292" y="53119"/>
                </a:lnTo>
                <a:lnTo>
                  <a:pt x="1159" y="57108"/>
                </a:lnTo>
                <a:lnTo>
                  <a:pt x="2586" y="60933"/>
                </a:lnTo>
                <a:lnTo>
                  <a:pt x="4542" y="64516"/>
                </a:lnTo>
                <a:lnTo>
                  <a:pt x="6989" y="67783"/>
                </a:lnTo>
                <a:lnTo>
                  <a:pt x="9875" y="70670"/>
                </a:lnTo>
                <a:lnTo>
                  <a:pt x="13143" y="73116"/>
                </a:lnTo>
                <a:lnTo>
                  <a:pt x="16726" y="75073"/>
                </a:lnTo>
                <a:lnTo>
                  <a:pt x="20551" y="76499"/>
                </a:lnTo>
                <a:lnTo>
                  <a:pt x="24539" y="77367"/>
                </a:lnTo>
                <a:lnTo>
                  <a:pt x="28611" y="77658"/>
                </a:lnTo>
                <a:close/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33"/>
          <p:cNvSpPr/>
          <p:nvPr/>
        </p:nvSpPr>
        <p:spPr>
          <a:xfrm>
            <a:off x="10074240" y="1993320"/>
            <a:ext cx="38520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Hospital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Oval 134"/>
          <p:cNvSpPr/>
          <p:nvPr/>
        </p:nvSpPr>
        <p:spPr>
          <a:xfrm>
            <a:off x="10119960" y="2776680"/>
            <a:ext cx="293760" cy="29376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Freeform 135"/>
          <p:cNvSpPr/>
          <p:nvPr/>
        </p:nvSpPr>
        <p:spPr>
          <a:xfrm>
            <a:off x="10174320" y="2882880"/>
            <a:ext cx="73080" cy="81360"/>
          </a:xfrm>
          <a:custGeom>
            <a:avLst/>
            <a:gdLst>
              <a:gd name="textAreaLeft" fmla="*/ 0 w 73080"/>
              <a:gd name="textAreaRight" fmla="*/ 73440 w 73080"/>
              <a:gd name="textAreaTop" fmla="*/ 0 h 81360"/>
              <a:gd name="textAreaBottom" fmla="*/ 81720 h 81360"/>
            </a:gdLst>
            <a:ahLst/>
            <a:rect l="textAreaLeft" t="textAreaTop" r="textAreaRight" b="textAreaBottom"/>
            <a:pathLst>
              <a:path w="73542" h="81698">
                <a:moveTo>
                  <a:pt x="4073" y="49024"/>
                </a:moveTo>
                <a:lnTo>
                  <a:pt x="1886" y="48398"/>
                </a:lnTo>
                <a:lnTo>
                  <a:pt x="372" y="46701"/>
                </a:lnTo>
                <a:lnTo>
                  <a:pt x="0" y="44457"/>
                </a:lnTo>
                <a:lnTo>
                  <a:pt x="885" y="42361"/>
                </a:lnTo>
                <a:lnTo>
                  <a:pt x="41348" y="671"/>
                </a:lnTo>
                <a:lnTo>
                  <a:pt x="42521" y="0"/>
                </a:lnTo>
                <a:lnTo>
                  <a:pt x="43857" y="207"/>
                </a:lnTo>
                <a:lnTo>
                  <a:pt x="44771" y="1203"/>
                </a:lnTo>
                <a:lnTo>
                  <a:pt x="44863" y="2551"/>
                </a:lnTo>
                <a:moveTo>
                  <a:pt x="44863" y="2551"/>
                </a:moveTo>
                <a:lnTo>
                  <a:pt x="37016" y="27157"/>
                </a:lnTo>
                <a:lnTo>
                  <a:pt x="36789" y="29098"/>
                </a:lnTo>
                <a:lnTo>
                  <a:pt x="37490" y="30923"/>
                </a:lnTo>
                <a:lnTo>
                  <a:pt x="38958" y="32213"/>
                </a:lnTo>
                <a:lnTo>
                  <a:pt x="40858" y="32675"/>
                </a:lnTo>
                <a:moveTo>
                  <a:pt x="40858" y="32675"/>
                </a:moveTo>
                <a:lnTo>
                  <a:pt x="69469" y="32675"/>
                </a:lnTo>
                <a:lnTo>
                  <a:pt x="71656" y="33300"/>
                </a:lnTo>
                <a:lnTo>
                  <a:pt x="73170" y="34998"/>
                </a:lnTo>
                <a:lnTo>
                  <a:pt x="73542" y="37241"/>
                </a:lnTo>
                <a:lnTo>
                  <a:pt x="72657" y="39337"/>
                </a:lnTo>
                <a:lnTo>
                  <a:pt x="32193" y="81027"/>
                </a:lnTo>
                <a:lnTo>
                  <a:pt x="31020" y="81698"/>
                </a:lnTo>
                <a:lnTo>
                  <a:pt x="29684" y="81491"/>
                </a:lnTo>
                <a:lnTo>
                  <a:pt x="28771" y="80495"/>
                </a:lnTo>
                <a:lnTo>
                  <a:pt x="28678" y="79147"/>
                </a:lnTo>
                <a:lnTo>
                  <a:pt x="36525" y="54541"/>
                </a:lnTo>
                <a:lnTo>
                  <a:pt x="36752" y="52600"/>
                </a:lnTo>
                <a:lnTo>
                  <a:pt x="36051" y="50775"/>
                </a:lnTo>
                <a:lnTo>
                  <a:pt x="34583" y="49485"/>
                </a:lnTo>
                <a:lnTo>
                  <a:pt x="32683" y="49024"/>
                </a:lnTo>
                <a:lnTo>
                  <a:pt x="4073" y="49024"/>
                </a:lnTo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6720" bIns="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Freeform 136"/>
          <p:cNvSpPr/>
          <p:nvPr/>
        </p:nvSpPr>
        <p:spPr>
          <a:xfrm>
            <a:off x="10294560" y="2886840"/>
            <a:ext cx="56880" cy="77400"/>
          </a:xfrm>
          <a:custGeom>
            <a:avLst/>
            <a:gdLst>
              <a:gd name="textAreaLeft" fmla="*/ 0 w 56880"/>
              <a:gd name="textAreaRight" fmla="*/ 57240 w 56880"/>
              <a:gd name="textAreaTop" fmla="*/ 0 h 77400"/>
              <a:gd name="textAreaBottom" fmla="*/ 77760 h 77400"/>
            </a:gdLst>
            <a:ahLst/>
            <a:rect l="textAreaLeft" t="textAreaTop" r="textAreaRight" b="textAreaBottom"/>
            <a:pathLst>
              <a:path w="57222" h="77658">
                <a:moveTo>
                  <a:pt x="28611" y="77658"/>
                </a:moveTo>
                <a:lnTo>
                  <a:pt x="32683" y="77366"/>
                </a:lnTo>
                <a:lnTo>
                  <a:pt x="36672" y="76499"/>
                </a:lnTo>
                <a:lnTo>
                  <a:pt x="40497" y="75072"/>
                </a:lnTo>
                <a:lnTo>
                  <a:pt x="44079" y="73116"/>
                </a:lnTo>
                <a:lnTo>
                  <a:pt x="47347" y="70669"/>
                </a:lnTo>
                <a:lnTo>
                  <a:pt x="50234" y="67783"/>
                </a:lnTo>
                <a:lnTo>
                  <a:pt x="52680" y="64515"/>
                </a:lnTo>
                <a:lnTo>
                  <a:pt x="54636" y="60932"/>
                </a:lnTo>
                <a:lnTo>
                  <a:pt x="56063" y="57107"/>
                </a:lnTo>
                <a:lnTo>
                  <a:pt x="56931" y="53119"/>
                </a:lnTo>
                <a:lnTo>
                  <a:pt x="57222" y="49047"/>
                </a:lnTo>
                <a:lnTo>
                  <a:pt x="44960" y="26567"/>
                </a:lnTo>
                <a:lnTo>
                  <a:pt x="28611" y="0"/>
                </a:lnTo>
                <a:lnTo>
                  <a:pt x="12262" y="26567"/>
                </a:lnTo>
                <a:lnTo>
                  <a:pt x="0" y="49047"/>
                </a:lnTo>
                <a:lnTo>
                  <a:pt x="292" y="53119"/>
                </a:lnTo>
                <a:lnTo>
                  <a:pt x="1159" y="57107"/>
                </a:lnTo>
                <a:lnTo>
                  <a:pt x="2586" y="60932"/>
                </a:lnTo>
                <a:lnTo>
                  <a:pt x="4542" y="64515"/>
                </a:lnTo>
                <a:lnTo>
                  <a:pt x="6989" y="67783"/>
                </a:lnTo>
                <a:lnTo>
                  <a:pt x="9875" y="70669"/>
                </a:lnTo>
                <a:lnTo>
                  <a:pt x="13143" y="73116"/>
                </a:lnTo>
                <a:lnTo>
                  <a:pt x="16726" y="75072"/>
                </a:lnTo>
                <a:lnTo>
                  <a:pt x="20551" y="76499"/>
                </a:lnTo>
                <a:lnTo>
                  <a:pt x="24539" y="77366"/>
                </a:lnTo>
                <a:lnTo>
                  <a:pt x="28611" y="77658"/>
                </a:lnTo>
                <a:close/>
              </a:path>
            </a:pathLst>
          </a:custGeom>
          <a:noFill/>
          <a:ln w="19050">
            <a:solidFill>
              <a:srgbClr val="11182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37"/>
          <p:cNvSpPr/>
          <p:nvPr/>
        </p:nvSpPr>
        <p:spPr>
          <a:xfrm>
            <a:off x="10173960" y="3114360"/>
            <a:ext cx="18540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City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38"/>
          <p:cNvSpPr/>
          <p:nvPr/>
        </p:nvSpPr>
        <p:spPr>
          <a:xfrm>
            <a:off x="9813960" y="1063440"/>
            <a:ext cx="78120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80" spc="-1" strike="noStrike">
                <a:solidFill>
                  <a:srgbClr val="1f2937"/>
                </a:solidFill>
                <a:latin typeface="Arial"/>
              </a:rPr>
              <a:t>Operativity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39"/>
          <p:cNvSpPr/>
          <p:nvPr/>
        </p:nvSpPr>
        <p:spPr>
          <a:xfrm>
            <a:off x="9773640" y="1248120"/>
            <a:ext cx="9201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40" spc="-1" strike="noStrike">
                <a:solidFill>
                  <a:srgbClr val="000000"/>
                </a:solidFill>
                <a:latin typeface="Arial"/>
              </a:rPr>
              <a:t>Ω = 72%</a:t>
            </a:r>
            <a:endParaRPr b="0" lang="en-US" sz="18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140"/>
          <p:cNvSpPr/>
          <p:nvPr/>
        </p:nvSpPr>
        <p:spPr>
          <a:xfrm>
            <a:off x="7722000" y="3537000"/>
            <a:ext cx="3047400" cy="2635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143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141"/>
          <p:cNvSpPr/>
          <p:nvPr/>
        </p:nvSpPr>
        <p:spPr>
          <a:xfrm>
            <a:off x="7950600" y="3657600"/>
            <a:ext cx="123408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80" spc="-1" strike="noStrike">
                <a:solidFill>
                  <a:srgbClr val="1f2937"/>
                </a:solidFill>
                <a:latin typeface="Arial"/>
              </a:rPr>
              <a:t>2 Neuralgic index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3" name="Connector 142"/>
          <p:cNvCxnSpPr/>
          <p:nvPr/>
        </p:nvCxnSpPr>
        <p:spPr>
          <a:xfrm flipH="1">
            <a:off x="8313480" y="4161960"/>
            <a:ext cx="503280" cy="50328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cxnSp>
        <p:nvCxnSpPr>
          <p:cNvPr id="174" name="Connector 143"/>
          <p:cNvCxnSpPr/>
          <p:nvPr/>
        </p:nvCxnSpPr>
        <p:spPr>
          <a:xfrm>
            <a:off x="8332920" y="4813560"/>
            <a:ext cx="637920" cy="36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cxnSp>
        <p:nvCxnSpPr>
          <p:cNvPr id="175" name="Connector 144"/>
          <p:cNvCxnSpPr/>
          <p:nvPr/>
        </p:nvCxnSpPr>
        <p:spPr>
          <a:xfrm flipV="1">
            <a:off x="9332280" y="4379760"/>
            <a:ext cx="745560" cy="36036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cxnSp>
        <p:nvCxnSpPr>
          <p:cNvPr id="176" name="Connector 145"/>
          <p:cNvCxnSpPr/>
          <p:nvPr/>
        </p:nvCxnSpPr>
        <p:spPr>
          <a:xfrm>
            <a:off x="9327960" y="4893840"/>
            <a:ext cx="754920" cy="41472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cxnSp>
        <p:nvCxnSpPr>
          <p:cNvPr id="177" name="Connector 146"/>
          <p:cNvCxnSpPr/>
          <p:nvPr/>
        </p:nvCxnSpPr>
        <p:spPr>
          <a:xfrm>
            <a:off x="9180720" y="4981680"/>
            <a:ext cx="360" cy="42768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cxnSp>
        <p:nvCxnSpPr>
          <p:cNvPr id="178" name="Connector 147"/>
          <p:cNvCxnSpPr/>
          <p:nvPr/>
        </p:nvCxnSpPr>
        <p:spPr>
          <a:xfrm flipV="1">
            <a:off x="9346320" y="5448960"/>
            <a:ext cx="714240" cy="13824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cxnSp>
        <p:nvCxnSpPr>
          <p:cNvPr id="179" name="Connector 148"/>
          <p:cNvCxnSpPr/>
          <p:nvPr/>
        </p:nvCxnSpPr>
        <p:spPr>
          <a:xfrm flipV="1">
            <a:off x="9287280" y="4450320"/>
            <a:ext cx="846720" cy="1038960"/>
          </a:xfrm>
          <a:prstGeom prst="straightConnector1">
            <a:avLst/>
          </a:prstGeom>
          <a:ln w="28575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80" name="Rounded Rectangle 149"/>
          <p:cNvSpPr/>
          <p:nvPr/>
        </p:nvSpPr>
        <p:spPr>
          <a:xfrm>
            <a:off x="8788680" y="3895560"/>
            <a:ext cx="293760" cy="293760"/>
          </a:xfrm>
          <a:prstGeom prst="roundRect">
            <a:avLst>
              <a:gd name="adj" fmla="val 16667"/>
            </a:avLst>
          </a:prstGeom>
          <a:solidFill>
            <a:srgbClr val="312e81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50"/>
          <p:cNvSpPr/>
          <p:nvPr/>
        </p:nvSpPr>
        <p:spPr>
          <a:xfrm>
            <a:off x="8726040" y="4233600"/>
            <a:ext cx="41868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Operator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Freeform 151"/>
          <p:cNvSpPr/>
          <p:nvPr/>
        </p:nvSpPr>
        <p:spPr>
          <a:xfrm>
            <a:off x="8010720" y="465948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154148" y="0"/>
                </a:moveTo>
                <a:lnTo>
                  <a:pt x="308296" y="154148"/>
                </a:lnTo>
                <a:lnTo>
                  <a:pt x="154148" y="308296"/>
                </a:lnTo>
                <a:lnTo>
                  <a:pt x="0" y="154148"/>
                </a:lnTo>
                <a:close/>
              </a:path>
            </a:pathLst>
          </a:custGeom>
          <a:solidFill>
            <a:srgbClr val="a0a3d1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52"/>
          <p:cNvSpPr/>
          <p:nvPr/>
        </p:nvSpPr>
        <p:spPr>
          <a:xfrm>
            <a:off x="7806960" y="5004360"/>
            <a:ext cx="71568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Electric Source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Freeform 153"/>
          <p:cNvSpPr/>
          <p:nvPr/>
        </p:nvSpPr>
        <p:spPr>
          <a:xfrm>
            <a:off x="9027000" y="465948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61659" y="0"/>
                </a:moveTo>
                <a:lnTo>
                  <a:pt x="246636" y="0"/>
                </a:lnTo>
                <a:lnTo>
                  <a:pt x="308296" y="61659"/>
                </a:lnTo>
                <a:lnTo>
                  <a:pt x="308296" y="246637"/>
                </a:lnTo>
                <a:lnTo>
                  <a:pt x="246636" y="308296"/>
                </a:lnTo>
                <a:lnTo>
                  <a:pt x="61659" y="308296"/>
                </a:lnTo>
                <a:lnTo>
                  <a:pt x="0" y="246637"/>
                </a:lnTo>
                <a:lnTo>
                  <a:pt x="0" y="61659"/>
                </a:lnTo>
                <a:close/>
              </a:path>
            </a:pathLst>
          </a:custGeom>
          <a:solidFill>
            <a:srgbClr val="d7ddf8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154"/>
          <p:cNvSpPr/>
          <p:nvPr/>
        </p:nvSpPr>
        <p:spPr>
          <a:xfrm>
            <a:off x="8929440" y="5004360"/>
            <a:ext cx="50256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Substation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Freeform 155"/>
          <p:cNvSpPr/>
          <p:nvPr/>
        </p:nvSpPr>
        <p:spPr>
          <a:xfrm>
            <a:off x="9027000" y="5465160"/>
            <a:ext cx="307800" cy="307800"/>
          </a:xfrm>
          <a:custGeom>
            <a:avLst/>
            <a:gdLst>
              <a:gd name="textAreaLeft" fmla="*/ 0 w 307800"/>
              <a:gd name="textAreaRight" fmla="*/ 308160 w 307800"/>
              <a:gd name="textAreaTop" fmla="*/ 0 h 307800"/>
              <a:gd name="textAreaBottom" fmla="*/ 308160 h 307800"/>
            </a:gdLst>
            <a:ahLst/>
            <a:rect l="textAreaLeft" t="textAreaTop" r="textAreaRight" b="textAreaBottom"/>
            <a:pathLst>
              <a:path w="308296" h="308296">
                <a:moveTo>
                  <a:pt x="61659" y="0"/>
                </a:moveTo>
                <a:lnTo>
                  <a:pt x="246636" y="0"/>
                </a:lnTo>
                <a:lnTo>
                  <a:pt x="308296" y="61659"/>
                </a:lnTo>
                <a:lnTo>
                  <a:pt x="308296" y="246637"/>
                </a:lnTo>
                <a:lnTo>
                  <a:pt x="246636" y="308296"/>
                </a:lnTo>
                <a:lnTo>
                  <a:pt x="61659" y="308296"/>
                </a:lnTo>
                <a:lnTo>
                  <a:pt x="0" y="246637"/>
                </a:lnTo>
                <a:lnTo>
                  <a:pt x="0" y="61659"/>
                </a:lnTo>
                <a:close/>
              </a:path>
            </a:pathLst>
          </a:custGeom>
          <a:solidFill>
            <a:srgbClr val="7172af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56"/>
          <p:cNvSpPr/>
          <p:nvPr/>
        </p:nvSpPr>
        <p:spPr>
          <a:xfrm>
            <a:off x="8887320" y="5810040"/>
            <a:ext cx="58644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Water Pump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Oval 157"/>
          <p:cNvSpPr/>
          <p:nvPr/>
        </p:nvSpPr>
        <p:spPr>
          <a:xfrm>
            <a:off x="10119960" y="4141080"/>
            <a:ext cx="293760" cy="293760"/>
          </a:xfrm>
          <a:prstGeom prst="ellipse">
            <a:avLst/>
          </a:prstGeom>
          <a:solidFill>
            <a:srgbClr val="989bcb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158"/>
          <p:cNvSpPr/>
          <p:nvPr/>
        </p:nvSpPr>
        <p:spPr>
          <a:xfrm>
            <a:off x="10074240" y="4478760"/>
            <a:ext cx="38520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Hospital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Oval 159"/>
          <p:cNvSpPr/>
          <p:nvPr/>
        </p:nvSpPr>
        <p:spPr>
          <a:xfrm>
            <a:off x="10119960" y="5262120"/>
            <a:ext cx="293760" cy="293760"/>
          </a:xfrm>
          <a:prstGeom prst="ellipse">
            <a:avLst/>
          </a:prstGeom>
          <a:solidFill>
            <a:srgbClr val="e0e7ff"/>
          </a:solidFill>
          <a:ln w="19050">
            <a:solidFill>
              <a:srgbClr val="d4d4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160"/>
          <p:cNvSpPr/>
          <p:nvPr/>
        </p:nvSpPr>
        <p:spPr>
          <a:xfrm>
            <a:off x="10173960" y="5599800"/>
            <a:ext cx="185400" cy="1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839" spc="-1" strike="noStrike">
                <a:solidFill>
                  <a:srgbClr val="6b7280"/>
                </a:solidFill>
                <a:latin typeface="Arial"/>
              </a:rPr>
              <a:t>City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2" name="Connector 2"/>
          <p:cNvCxnSpPr>
            <a:endCxn id="110" idx="1"/>
          </p:cNvCxnSpPr>
          <p:nvPr/>
        </p:nvCxnSpPr>
        <p:spPr>
          <a:xfrm>
            <a:off x="4606200" y="3507120"/>
            <a:ext cx="457560" cy="23040"/>
          </a:xfrm>
          <a:prstGeom prst="straightConnector1">
            <a:avLst/>
          </a:prstGeom>
          <a:ln w="38160">
            <a:solidFill>
              <a:srgbClr val="000000"/>
            </a:solidFill>
            <a:prstDash val="sysDot"/>
            <a:round/>
            <a:tailEnd len="med" type="triangle" w="med"/>
          </a:ln>
        </p:spPr>
      </p:cxnSp>
      <p:cxnSp>
        <p:nvCxnSpPr>
          <p:cNvPr id="193" name=""/>
          <p:cNvCxnSpPr>
            <a:stCxn id="90" idx="-1"/>
          </p:cNvCxnSpPr>
          <p:nvPr/>
        </p:nvCxnSpPr>
        <p:spPr>
          <a:xfrm flipH="1">
            <a:off x="1625040" y="3633840"/>
            <a:ext cx="858600" cy="41472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194" name=""/>
          <p:cNvCxnSpPr>
            <a:stCxn id="96" idx="0"/>
            <a:endCxn id="108" idx="2"/>
          </p:cNvCxnSpPr>
          <p:nvPr/>
        </p:nvCxnSpPr>
        <p:spPr>
          <a:xfrm flipH="1" flipV="1">
            <a:off x="3317040" y="2377800"/>
            <a:ext cx="252720" cy="43020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195" name=""/>
          <p:cNvCxnSpPr>
            <a:stCxn id="86" idx="0"/>
            <a:endCxn id="104" idx="2"/>
          </p:cNvCxnSpPr>
          <p:nvPr/>
        </p:nvCxnSpPr>
        <p:spPr>
          <a:xfrm flipH="1" flipV="1">
            <a:off x="1226160" y="2859120"/>
            <a:ext cx="248040" cy="46728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196" name=""/>
          <p:cNvCxnSpPr>
            <a:stCxn id="103" idx="0"/>
            <a:endCxn id="109" idx="0"/>
          </p:cNvCxnSpPr>
          <p:nvPr/>
        </p:nvCxnSpPr>
        <p:spPr>
          <a:xfrm flipH="1">
            <a:off x="3456720" y="4266360"/>
            <a:ext cx="113040" cy="46080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197" name=""/>
          <p:cNvCxnSpPr>
            <a:stCxn id="93" idx="1"/>
            <a:endCxn id="107" idx="0"/>
          </p:cNvCxnSpPr>
          <p:nvPr/>
        </p:nvCxnSpPr>
        <p:spPr>
          <a:xfrm flipH="1">
            <a:off x="1531800" y="4285440"/>
            <a:ext cx="798120" cy="996120"/>
          </a:xfrm>
          <a:prstGeom prst="straightConnector1">
            <a:avLst/>
          </a:prstGeom>
          <a:ln w="0">
            <a:solidFill>
              <a:srgbClr val="3465a4"/>
            </a:solidFill>
          </a:ln>
        </p:spPr>
      </p:cxnSp>
      <p:sp>
        <p:nvSpPr>
          <p:cNvPr id="198" name=""/>
          <p:cNvSpPr txBox="1"/>
          <p:nvPr/>
        </p:nvSpPr>
        <p:spPr>
          <a:xfrm>
            <a:off x="228600" y="1143000"/>
            <a:ext cx="228600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Scenario: </a:t>
            </a:r>
            <a:r>
              <a:rPr b="0" lang="en-US" sz="1200" spc="-1" strike="noStrike">
                <a:solidFill>
                  <a:srgbClr val="ff0000"/>
                </a:solidFill>
                <a:latin typeface="Arial"/>
              </a:rPr>
              <a:t>Earthquake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2026-07-28T11:22:52Z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